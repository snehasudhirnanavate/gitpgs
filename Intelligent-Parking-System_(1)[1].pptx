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 n" userId="77a9b8fbfe9c08a5" providerId="LiveId" clId="{5D741561-A96E-4E3E-9F0D-45B599404D95}"/>
    <pc:docChg chg="addSld delSld modSld">
      <pc:chgData name="sneha n" userId="77a9b8fbfe9c08a5" providerId="LiveId" clId="{5D741561-A96E-4E3E-9F0D-45B599404D95}" dt="2025-11-12T03:18:55.259" v="55" actId="14100"/>
      <pc:docMkLst>
        <pc:docMk/>
      </pc:docMkLst>
      <pc:sldChg chg="modSp mod">
        <pc:chgData name="sneha n" userId="77a9b8fbfe9c08a5" providerId="LiveId" clId="{5D741561-A96E-4E3E-9F0D-45B599404D95}" dt="2025-11-12T03:18:16.714" v="53" actId="20577"/>
        <pc:sldMkLst>
          <pc:docMk/>
          <pc:sldMk cId="0" sldId="256"/>
        </pc:sldMkLst>
        <pc:spChg chg="mod">
          <ac:chgData name="sneha n" userId="77a9b8fbfe9c08a5" providerId="LiveId" clId="{5D741561-A96E-4E3E-9F0D-45B599404D95}" dt="2025-11-12T03:18:16.714" v="53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sneha n" userId="77a9b8fbfe9c08a5" providerId="LiveId" clId="{5D741561-A96E-4E3E-9F0D-45B599404D95}" dt="2025-11-12T03:18:55.259" v="55" actId="14100"/>
        <pc:sldMkLst>
          <pc:docMk/>
          <pc:sldMk cId="0" sldId="259"/>
        </pc:sldMkLst>
        <pc:picChg chg="mod">
          <ac:chgData name="sneha n" userId="77a9b8fbfe9c08a5" providerId="LiveId" clId="{5D741561-A96E-4E3E-9F0D-45B599404D95}" dt="2025-11-12T03:18:55.259" v="55" actId="14100"/>
          <ac:picMkLst>
            <pc:docMk/>
            <pc:sldMk cId="0" sldId="259"/>
            <ac:picMk id="6" creationId="{00000000-0000-0000-0000-000000000000}"/>
          </ac:picMkLst>
        </pc:picChg>
      </pc:sldChg>
      <pc:sldChg chg="modSp add mod">
        <pc:chgData name="sneha n" userId="77a9b8fbfe9c08a5" providerId="LiveId" clId="{5D741561-A96E-4E3E-9F0D-45B599404D95}" dt="2025-11-11T16:33:10.226" v="20" actId="20577"/>
        <pc:sldMkLst>
          <pc:docMk/>
          <pc:sldMk cId="1000148238" sldId="266"/>
        </pc:sldMkLst>
        <pc:spChg chg="mod">
          <ac:chgData name="sneha n" userId="77a9b8fbfe9c08a5" providerId="LiveId" clId="{5D741561-A96E-4E3E-9F0D-45B599404D95}" dt="2025-11-11T16:33:10.226" v="20" actId="20577"/>
          <ac:spMkLst>
            <pc:docMk/>
            <pc:sldMk cId="1000148238" sldId="266"/>
            <ac:spMk id="3" creationId="{B4B50135-066B-8012-8D27-76886A25F8EC}"/>
          </ac:spMkLst>
        </pc:spChg>
        <pc:spChg chg="mod">
          <ac:chgData name="sneha n" userId="77a9b8fbfe9c08a5" providerId="LiveId" clId="{5D741561-A96E-4E3E-9F0D-45B599404D95}" dt="2025-11-11T16:33:01.391" v="8"/>
          <ac:spMkLst>
            <pc:docMk/>
            <pc:sldMk cId="1000148238" sldId="266"/>
            <ac:spMk id="4" creationId="{C37C9DA9-1C55-8873-A704-5011E3963FAD}"/>
          </ac:spMkLst>
        </pc:spChg>
      </pc:sldChg>
      <pc:sldChg chg="del">
        <pc:chgData name="sneha n" userId="77a9b8fbfe9c08a5" providerId="LiveId" clId="{5D741561-A96E-4E3E-9F0D-45B599404D95}" dt="2025-11-11T16:31:56.864" v="0" actId="2696"/>
        <pc:sldMkLst>
          <pc:docMk/>
          <pc:sldMk cId="3655967392" sldId="266"/>
        </pc:sldMkLst>
      </pc:sldChg>
      <pc:sldChg chg="add del">
        <pc:chgData name="sneha n" userId="77a9b8fbfe9c08a5" providerId="LiveId" clId="{5D741561-A96E-4E3E-9F0D-45B599404D95}" dt="2025-11-11T16:32:36.534" v="7" actId="2696"/>
        <pc:sldMkLst>
          <pc:docMk/>
          <pc:sldMk cId="1063047693" sldId="267"/>
        </pc:sldMkLst>
      </pc:sldChg>
      <pc:sldChg chg="del">
        <pc:chgData name="sneha n" userId="77a9b8fbfe9c08a5" providerId="LiveId" clId="{5D741561-A96E-4E3E-9F0D-45B599404D95}" dt="2025-11-11T16:32:02.411" v="1" actId="2696"/>
        <pc:sldMkLst>
          <pc:docMk/>
          <pc:sldMk cId="1742795372" sldId="267"/>
        </pc:sldMkLst>
      </pc:sldChg>
      <pc:sldChg chg="modSp add mod">
        <pc:chgData name="sneha n" userId="77a9b8fbfe9c08a5" providerId="LiveId" clId="{5D741561-A96E-4E3E-9F0D-45B599404D95}" dt="2025-11-11T16:33:33.904" v="33" actId="20577"/>
        <pc:sldMkLst>
          <pc:docMk/>
          <pc:sldMk cId="3792211482" sldId="267"/>
        </pc:sldMkLst>
        <pc:spChg chg="mod">
          <ac:chgData name="sneha n" userId="77a9b8fbfe9c08a5" providerId="LiveId" clId="{5D741561-A96E-4E3E-9F0D-45B599404D95}" dt="2025-11-11T16:33:33.904" v="33" actId="20577"/>
          <ac:spMkLst>
            <pc:docMk/>
            <pc:sldMk cId="3792211482" sldId="267"/>
            <ac:spMk id="3" creationId="{2323534C-F10F-29D8-4648-FD993F7736BD}"/>
          </ac:spMkLst>
        </pc:spChg>
        <pc:spChg chg="mod">
          <ac:chgData name="sneha n" userId="77a9b8fbfe9c08a5" providerId="LiveId" clId="{5D741561-A96E-4E3E-9F0D-45B599404D95}" dt="2025-11-11T16:33:26.720" v="22" actId="20577"/>
          <ac:spMkLst>
            <pc:docMk/>
            <pc:sldMk cId="3792211482" sldId="267"/>
            <ac:spMk id="4" creationId="{4B7E54D0-0675-ABE4-5D74-A900795EF518}"/>
          </ac:spMkLst>
        </pc:spChg>
      </pc:sldChg>
      <pc:sldChg chg="add del">
        <pc:chgData name="sneha n" userId="77a9b8fbfe9c08a5" providerId="LiveId" clId="{5D741561-A96E-4E3E-9F0D-45B599404D95}" dt="2025-11-11T16:32:30.409" v="6" actId="2696"/>
        <pc:sldMkLst>
          <pc:docMk/>
          <pc:sldMk cId="2304462264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45424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45424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FFC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8176" y="7751062"/>
            <a:ext cx="1725168" cy="4114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68973" y="1471675"/>
            <a:ext cx="7314565" cy="702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5C4E3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68973" y="2507851"/>
            <a:ext cx="7154544" cy="3354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45424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2594305"/>
            <a:ext cx="5404485" cy="141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590"/>
              </a:lnSpc>
            </a:pPr>
            <a:r>
              <a:rPr spc="330" dirty="0"/>
              <a:t>Intelligent</a:t>
            </a:r>
            <a:r>
              <a:rPr spc="375" dirty="0"/>
              <a:t> Parking </a:t>
            </a:r>
            <a:r>
              <a:rPr spc="470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1304" y="4438269"/>
            <a:ext cx="7094855" cy="81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Verilog</a:t>
            </a:r>
            <a:r>
              <a:rPr sz="1750" spc="2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454240"/>
                </a:solidFill>
                <a:latin typeface="Arial MT"/>
                <a:cs typeface="Arial MT"/>
              </a:rPr>
              <a:t>HDL</a:t>
            </a:r>
            <a:r>
              <a:rPr sz="1750" spc="2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and</a:t>
            </a:r>
            <a:r>
              <a:rPr sz="1750" spc="1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50" dirty="0">
                <a:solidFill>
                  <a:srgbClr val="454240"/>
                </a:solidFill>
                <a:latin typeface="Arial MT"/>
                <a:cs typeface="Arial MT"/>
              </a:rPr>
              <a:t>Embedded</a:t>
            </a:r>
            <a:r>
              <a:rPr sz="1750" spc="1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Systems</a:t>
            </a:r>
            <a:endParaRPr sz="17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 dirty="0">
              <a:latin typeface="Arial MT"/>
              <a:cs typeface="Arial MT"/>
            </a:endParaRPr>
          </a:p>
          <a:p>
            <a:pPr marL="12700" marR="5080">
              <a:lnSpc>
                <a:spcPct val="137300"/>
              </a:lnSpc>
              <a:spcBef>
                <a:spcPts val="5"/>
              </a:spcBef>
            </a:pPr>
            <a:r>
              <a:rPr sz="1400" spc="-20" dirty="0">
                <a:solidFill>
                  <a:srgbClr val="454240"/>
                </a:solidFill>
                <a:latin typeface="Arial MT"/>
                <a:cs typeface="Arial MT"/>
              </a:rPr>
              <a:t>ACS</a:t>
            </a:r>
            <a:r>
              <a:rPr sz="1400" spc="10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College</a:t>
            </a:r>
            <a:r>
              <a:rPr sz="1400" spc="9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454240"/>
                </a:solidFill>
                <a:latin typeface="Arial MT"/>
                <a:cs typeface="Arial MT"/>
              </a:rPr>
              <a:t>of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Engineering</a:t>
            </a:r>
            <a:r>
              <a:rPr sz="1400" spc="18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spc="114" dirty="0">
                <a:solidFill>
                  <a:srgbClr val="454240"/>
                </a:solidFill>
                <a:latin typeface="Arial MT"/>
                <a:cs typeface="Arial MT"/>
              </a:rPr>
              <a:t>–</a:t>
            </a:r>
            <a:r>
              <a:rPr sz="1400" spc="6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Department</a:t>
            </a:r>
            <a:r>
              <a:rPr sz="1400" spc="13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spc="55" dirty="0">
                <a:solidFill>
                  <a:srgbClr val="454240"/>
                </a:solidFill>
                <a:latin typeface="Arial MT"/>
                <a:cs typeface="Arial MT"/>
              </a:rPr>
              <a:t>of</a:t>
            </a:r>
            <a:r>
              <a:rPr sz="1400" spc="8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Computer</a:t>
            </a:r>
            <a:r>
              <a:rPr sz="1400" spc="114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Science</a:t>
            </a:r>
            <a:r>
              <a:rPr sz="1400" spc="8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spc="25" dirty="0">
                <a:solidFill>
                  <a:srgbClr val="454240"/>
                </a:solidFill>
                <a:latin typeface="Arial MT"/>
                <a:cs typeface="Arial MT"/>
              </a:rPr>
              <a:t>&amp; </a:t>
            </a:r>
            <a:r>
              <a:rPr sz="1400" spc="-10" dirty="0">
                <a:solidFill>
                  <a:srgbClr val="454240"/>
                </a:solidFill>
                <a:latin typeface="Arial MT"/>
                <a:cs typeface="Arial MT"/>
              </a:rPr>
              <a:t>Engineering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8973" y="1394536"/>
            <a:ext cx="7554595" cy="141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590"/>
              </a:lnSpc>
            </a:pPr>
            <a:r>
              <a:rPr spc="625" dirty="0"/>
              <a:t>The</a:t>
            </a:r>
            <a:r>
              <a:rPr spc="320" dirty="0"/>
              <a:t> </a:t>
            </a:r>
            <a:r>
              <a:rPr spc="409" dirty="0"/>
              <a:t>Challenge:</a:t>
            </a:r>
            <a:r>
              <a:rPr spc="415" dirty="0"/>
              <a:t> </a:t>
            </a:r>
            <a:r>
              <a:rPr spc="385" dirty="0"/>
              <a:t>Parking</a:t>
            </a:r>
            <a:r>
              <a:rPr spc="350" dirty="0"/>
              <a:t> </a:t>
            </a:r>
            <a:r>
              <a:rPr spc="380" dirty="0"/>
              <a:t>in </a:t>
            </a:r>
            <a:r>
              <a:rPr spc="480" dirty="0"/>
              <a:t>Smart</a:t>
            </a:r>
            <a:r>
              <a:rPr spc="355" dirty="0"/>
              <a:t> </a:t>
            </a:r>
            <a:r>
              <a:rPr spc="350" dirty="0"/>
              <a:t>Cities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275832" y="3191255"/>
            <a:ext cx="3676015" cy="2057400"/>
            <a:chOff x="6275832" y="3191255"/>
            <a:chExt cx="3676015" cy="2057400"/>
          </a:xfrm>
        </p:grpSpPr>
        <p:sp>
          <p:nvSpPr>
            <p:cNvPr id="5" name="object 5"/>
            <p:cNvSpPr/>
            <p:nvPr/>
          </p:nvSpPr>
          <p:spPr>
            <a:xfrm>
              <a:off x="6280404" y="3195827"/>
              <a:ext cx="3667125" cy="2048510"/>
            </a:xfrm>
            <a:custGeom>
              <a:avLst/>
              <a:gdLst/>
              <a:ahLst/>
              <a:cxnLst/>
              <a:rect l="l" t="t" r="r" b="b"/>
              <a:pathLst>
                <a:path w="3667125" h="2048510">
                  <a:moveTo>
                    <a:pt x="3571494" y="0"/>
                  </a:moveTo>
                  <a:lnTo>
                    <a:pt x="95250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1953006"/>
                  </a:lnTo>
                  <a:lnTo>
                    <a:pt x="7489" y="1990070"/>
                  </a:lnTo>
                  <a:lnTo>
                    <a:pt x="27908" y="2020347"/>
                  </a:lnTo>
                  <a:lnTo>
                    <a:pt x="58185" y="2040766"/>
                  </a:lnTo>
                  <a:lnTo>
                    <a:pt x="95250" y="2048256"/>
                  </a:lnTo>
                  <a:lnTo>
                    <a:pt x="3571494" y="2048256"/>
                  </a:lnTo>
                  <a:lnTo>
                    <a:pt x="3608558" y="2040766"/>
                  </a:lnTo>
                  <a:lnTo>
                    <a:pt x="3638835" y="2020347"/>
                  </a:lnTo>
                  <a:lnTo>
                    <a:pt x="3659254" y="1990070"/>
                  </a:lnTo>
                  <a:lnTo>
                    <a:pt x="3666744" y="1953006"/>
                  </a:lnTo>
                  <a:lnTo>
                    <a:pt x="3666744" y="95250"/>
                  </a:lnTo>
                  <a:lnTo>
                    <a:pt x="3659254" y="58185"/>
                  </a:lnTo>
                  <a:lnTo>
                    <a:pt x="3638835" y="27908"/>
                  </a:lnTo>
                  <a:lnTo>
                    <a:pt x="3608558" y="7489"/>
                  </a:lnTo>
                  <a:lnTo>
                    <a:pt x="3571494" y="0"/>
                  </a:lnTo>
                  <a:close/>
                </a:path>
              </a:pathLst>
            </a:custGeom>
            <a:solidFill>
              <a:srgbClr val="F7EC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80404" y="3195827"/>
              <a:ext cx="3667125" cy="2048510"/>
            </a:xfrm>
            <a:custGeom>
              <a:avLst/>
              <a:gdLst/>
              <a:ahLst/>
              <a:cxnLst/>
              <a:rect l="l" t="t" r="r" b="b"/>
              <a:pathLst>
                <a:path w="3667125" h="2048510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3571494" y="0"/>
                  </a:lnTo>
                  <a:lnTo>
                    <a:pt x="3608558" y="7489"/>
                  </a:lnTo>
                  <a:lnTo>
                    <a:pt x="3638835" y="27908"/>
                  </a:lnTo>
                  <a:lnTo>
                    <a:pt x="3659254" y="58185"/>
                  </a:lnTo>
                  <a:lnTo>
                    <a:pt x="3666744" y="95250"/>
                  </a:lnTo>
                  <a:lnTo>
                    <a:pt x="3666744" y="1953006"/>
                  </a:lnTo>
                  <a:lnTo>
                    <a:pt x="3659254" y="1990070"/>
                  </a:lnTo>
                  <a:lnTo>
                    <a:pt x="3638835" y="2020347"/>
                  </a:lnTo>
                  <a:lnTo>
                    <a:pt x="3608558" y="2040766"/>
                  </a:lnTo>
                  <a:lnTo>
                    <a:pt x="3571494" y="2048256"/>
                  </a:lnTo>
                  <a:lnTo>
                    <a:pt x="95250" y="2048256"/>
                  </a:lnTo>
                  <a:lnTo>
                    <a:pt x="58185" y="2040766"/>
                  </a:lnTo>
                  <a:lnTo>
                    <a:pt x="27908" y="2020347"/>
                  </a:lnTo>
                  <a:lnTo>
                    <a:pt x="7489" y="1990070"/>
                  </a:lnTo>
                  <a:lnTo>
                    <a:pt x="0" y="1953006"/>
                  </a:lnTo>
                  <a:lnTo>
                    <a:pt x="0" y="95250"/>
                  </a:lnTo>
                  <a:close/>
                </a:path>
              </a:pathLst>
            </a:custGeom>
            <a:ln w="9144">
              <a:solidFill>
                <a:srgbClr val="DDD2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03289" y="3405581"/>
            <a:ext cx="2846705" cy="15855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229" dirty="0">
                <a:solidFill>
                  <a:srgbClr val="454240"/>
                </a:solidFill>
                <a:latin typeface="Cambria"/>
                <a:cs typeface="Cambria"/>
              </a:rPr>
              <a:t>Rapid</a:t>
            </a:r>
            <a:r>
              <a:rPr sz="2200" spc="155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2200" spc="195" dirty="0">
                <a:solidFill>
                  <a:srgbClr val="454240"/>
                </a:solidFill>
                <a:latin typeface="Cambria"/>
                <a:cs typeface="Cambria"/>
              </a:rPr>
              <a:t>Urbanization</a:t>
            </a:r>
            <a:endParaRPr sz="2200">
              <a:latin typeface="Cambria"/>
              <a:cs typeface="Cambria"/>
            </a:endParaRPr>
          </a:p>
          <a:p>
            <a:pPr marL="12700" marR="214629">
              <a:lnSpc>
                <a:spcPct val="137800"/>
              </a:lnSpc>
              <a:spcBef>
                <a:spcPts val="950"/>
              </a:spcBef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Growing</a:t>
            </a:r>
            <a:r>
              <a:rPr sz="1750" spc="14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vehicle</a:t>
            </a:r>
            <a:r>
              <a:rPr sz="1750" spc="16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454240"/>
                </a:solidFill>
                <a:latin typeface="Arial MT"/>
                <a:cs typeface="Arial MT"/>
              </a:rPr>
              <a:t>density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strains</a:t>
            </a:r>
            <a:r>
              <a:rPr sz="1750" spc="8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50" dirty="0">
                <a:solidFill>
                  <a:srgbClr val="454240"/>
                </a:solidFill>
                <a:latin typeface="Arial MT"/>
                <a:cs typeface="Arial MT"/>
              </a:rPr>
              <a:t>traditional</a:t>
            </a:r>
            <a:r>
              <a:rPr sz="1750" spc="11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parking </a:t>
            </a:r>
            <a:r>
              <a:rPr sz="1750" spc="45" dirty="0">
                <a:solidFill>
                  <a:srgbClr val="454240"/>
                </a:solidFill>
                <a:latin typeface="Arial MT"/>
                <a:cs typeface="Arial MT"/>
              </a:rPr>
              <a:t>infrastructure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168128" y="3191255"/>
            <a:ext cx="3676015" cy="2057400"/>
            <a:chOff x="10168128" y="3191255"/>
            <a:chExt cx="3676015" cy="2057400"/>
          </a:xfrm>
        </p:grpSpPr>
        <p:sp>
          <p:nvSpPr>
            <p:cNvPr id="9" name="object 9"/>
            <p:cNvSpPr/>
            <p:nvPr/>
          </p:nvSpPr>
          <p:spPr>
            <a:xfrm>
              <a:off x="10172700" y="3195827"/>
              <a:ext cx="3667125" cy="2048510"/>
            </a:xfrm>
            <a:custGeom>
              <a:avLst/>
              <a:gdLst/>
              <a:ahLst/>
              <a:cxnLst/>
              <a:rect l="l" t="t" r="r" b="b"/>
              <a:pathLst>
                <a:path w="3667125" h="2048510">
                  <a:moveTo>
                    <a:pt x="3571494" y="0"/>
                  </a:moveTo>
                  <a:lnTo>
                    <a:pt x="95250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1953006"/>
                  </a:lnTo>
                  <a:lnTo>
                    <a:pt x="7489" y="1990070"/>
                  </a:lnTo>
                  <a:lnTo>
                    <a:pt x="27908" y="2020347"/>
                  </a:lnTo>
                  <a:lnTo>
                    <a:pt x="58185" y="2040766"/>
                  </a:lnTo>
                  <a:lnTo>
                    <a:pt x="95250" y="2048256"/>
                  </a:lnTo>
                  <a:lnTo>
                    <a:pt x="3571494" y="2048256"/>
                  </a:lnTo>
                  <a:lnTo>
                    <a:pt x="3608558" y="2040766"/>
                  </a:lnTo>
                  <a:lnTo>
                    <a:pt x="3638835" y="2020347"/>
                  </a:lnTo>
                  <a:lnTo>
                    <a:pt x="3659254" y="1990070"/>
                  </a:lnTo>
                  <a:lnTo>
                    <a:pt x="3666744" y="1953006"/>
                  </a:lnTo>
                  <a:lnTo>
                    <a:pt x="3666744" y="95250"/>
                  </a:lnTo>
                  <a:lnTo>
                    <a:pt x="3659254" y="58185"/>
                  </a:lnTo>
                  <a:lnTo>
                    <a:pt x="3638835" y="27908"/>
                  </a:lnTo>
                  <a:lnTo>
                    <a:pt x="3608558" y="7489"/>
                  </a:lnTo>
                  <a:lnTo>
                    <a:pt x="3571494" y="0"/>
                  </a:lnTo>
                  <a:close/>
                </a:path>
              </a:pathLst>
            </a:custGeom>
            <a:solidFill>
              <a:srgbClr val="F7EC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72700" y="3195827"/>
              <a:ext cx="3667125" cy="2048510"/>
            </a:xfrm>
            <a:custGeom>
              <a:avLst/>
              <a:gdLst/>
              <a:ahLst/>
              <a:cxnLst/>
              <a:rect l="l" t="t" r="r" b="b"/>
              <a:pathLst>
                <a:path w="3667125" h="2048510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3571494" y="0"/>
                  </a:lnTo>
                  <a:lnTo>
                    <a:pt x="3608558" y="7489"/>
                  </a:lnTo>
                  <a:lnTo>
                    <a:pt x="3638835" y="27908"/>
                  </a:lnTo>
                  <a:lnTo>
                    <a:pt x="3659254" y="58185"/>
                  </a:lnTo>
                  <a:lnTo>
                    <a:pt x="3666744" y="95250"/>
                  </a:lnTo>
                  <a:lnTo>
                    <a:pt x="3666744" y="1953006"/>
                  </a:lnTo>
                  <a:lnTo>
                    <a:pt x="3659254" y="1990070"/>
                  </a:lnTo>
                  <a:lnTo>
                    <a:pt x="3638835" y="2020347"/>
                  </a:lnTo>
                  <a:lnTo>
                    <a:pt x="3608558" y="2040766"/>
                  </a:lnTo>
                  <a:lnTo>
                    <a:pt x="3571494" y="2048256"/>
                  </a:lnTo>
                  <a:lnTo>
                    <a:pt x="95250" y="2048256"/>
                  </a:lnTo>
                  <a:lnTo>
                    <a:pt x="58185" y="2040766"/>
                  </a:lnTo>
                  <a:lnTo>
                    <a:pt x="27908" y="2020347"/>
                  </a:lnTo>
                  <a:lnTo>
                    <a:pt x="7489" y="1990070"/>
                  </a:lnTo>
                  <a:lnTo>
                    <a:pt x="0" y="1953006"/>
                  </a:lnTo>
                  <a:lnTo>
                    <a:pt x="0" y="95250"/>
                  </a:lnTo>
                  <a:close/>
                </a:path>
              </a:pathLst>
            </a:custGeom>
            <a:ln w="9144">
              <a:solidFill>
                <a:srgbClr val="DDD2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395584" y="3405581"/>
            <a:ext cx="3088005" cy="15855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204" dirty="0">
                <a:solidFill>
                  <a:srgbClr val="454240"/>
                </a:solidFill>
                <a:latin typeface="Cambria"/>
                <a:cs typeface="Cambria"/>
              </a:rPr>
              <a:t>Inefficiency</a:t>
            </a:r>
            <a:endParaRPr sz="2200">
              <a:latin typeface="Cambria"/>
              <a:cs typeface="Cambria"/>
            </a:endParaRPr>
          </a:p>
          <a:p>
            <a:pPr marL="12700" marR="5080">
              <a:lnSpc>
                <a:spcPct val="137800"/>
              </a:lnSpc>
              <a:spcBef>
                <a:spcPts val="950"/>
              </a:spcBef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Drivers</a:t>
            </a:r>
            <a:r>
              <a:rPr sz="1750" spc="3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waste</a:t>
            </a:r>
            <a:r>
              <a:rPr sz="1750" spc="9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75" dirty="0">
                <a:solidFill>
                  <a:srgbClr val="454240"/>
                </a:solidFill>
                <a:latin typeface="Arial MT"/>
                <a:cs typeface="Arial MT"/>
              </a:rPr>
              <a:t>time</a:t>
            </a:r>
            <a:r>
              <a:rPr sz="1750" spc="10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45" dirty="0">
                <a:solidFill>
                  <a:srgbClr val="454240"/>
                </a:solidFill>
                <a:latin typeface="Arial MT"/>
                <a:cs typeface="Arial MT"/>
              </a:rPr>
              <a:t>circling </a:t>
            </a:r>
            <a:r>
              <a:rPr sz="1750" spc="35" dirty="0">
                <a:solidFill>
                  <a:srgbClr val="454240"/>
                </a:solidFill>
                <a:latin typeface="Arial MT"/>
                <a:cs typeface="Arial MT"/>
              </a:rPr>
              <a:t>for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available</a:t>
            </a:r>
            <a:r>
              <a:rPr sz="1750" spc="8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spaces,</a:t>
            </a:r>
            <a:r>
              <a:rPr sz="1750" spc="3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increasing emissions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75832" y="5468111"/>
            <a:ext cx="7568565" cy="1329055"/>
            <a:chOff x="6275832" y="5468111"/>
            <a:chExt cx="7568565" cy="1329055"/>
          </a:xfrm>
        </p:grpSpPr>
        <p:sp>
          <p:nvSpPr>
            <p:cNvPr id="13" name="object 13"/>
            <p:cNvSpPr/>
            <p:nvPr/>
          </p:nvSpPr>
          <p:spPr>
            <a:xfrm>
              <a:off x="6280404" y="5472683"/>
              <a:ext cx="7559040" cy="1320165"/>
            </a:xfrm>
            <a:custGeom>
              <a:avLst/>
              <a:gdLst/>
              <a:ahLst/>
              <a:cxnLst/>
              <a:rect l="l" t="t" r="r" b="b"/>
              <a:pathLst>
                <a:path w="7559040" h="1320165">
                  <a:moveTo>
                    <a:pt x="7463917" y="0"/>
                  </a:moveTo>
                  <a:lnTo>
                    <a:pt x="95123" y="0"/>
                  </a:lnTo>
                  <a:lnTo>
                    <a:pt x="58078" y="7469"/>
                  </a:lnTo>
                  <a:lnTo>
                    <a:pt x="27844" y="27844"/>
                  </a:lnTo>
                  <a:lnTo>
                    <a:pt x="7469" y="58078"/>
                  </a:lnTo>
                  <a:lnTo>
                    <a:pt x="0" y="95123"/>
                  </a:lnTo>
                  <a:lnTo>
                    <a:pt x="0" y="1224661"/>
                  </a:lnTo>
                  <a:lnTo>
                    <a:pt x="7469" y="1261705"/>
                  </a:lnTo>
                  <a:lnTo>
                    <a:pt x="27844" y="1291939"/>
                  </a:lnTo>
                  <a:lnTo>
                    <a:pt x="58078" y="1312314"/>
                  </a:lnTo>
                  <a:lnTo>
                    <a:pt x="95123" y="1319784"/>
                  </a:lnTo>
                  <a:lnTo>
                    <a:pt x="7463917" y="1319784"/>
                  </a:lnTo>
                  <a:lnTo>
                    <a:pt x="7500961" y="1312314"/>
                  </a:lnTo>
                  <a:lnTo>
                    <a:pt x="7531195" y="1291939"/>
                  </a:lnTo>
                  <a:lnTo>
                    <a:pt x="7551570" y="1261705"/>
                  </a:lnTo>
                  <a:lnTo>
                    <a:pt x="7559040" y="1224661"/>
                  </a:lnTo>
                  <a:lnTo>
                    <a:pt x="7559040" y="95123"/>
                  </a:lnTo>
                  <a:lnTo>
                    <a:pt x="7551570" y="58078"/>
                  </a:lnTo>
                  <a:lnTo>
                    <a:pt x="7531195" y="27844"/>
                  </a:lnTo>
                  <a:lnTo>
                    <a:pt x="7500961" y="7469"/>
                  </a:lnTo>
                  <a:lnTo>
                    <a:pt x="7463917" y="0"/>
                  </a:lnTo>
                  <a:close/>
                </a:path>
              </a:pathLst>
            </a:custGeom>
            <a:solidFill>
              <a:srgbClr val="F7EC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80404" y="5472683"/>
              <a:ext cx="7559040" cy="1320165"/>
            </a:xfrm>
            <a:custGeom>
              <a:avLst/>
              <a:gdLst/>
              <a:ahLst/>
              <a:cxnLst/>
              <a:rect l="l" t="t" r="r" b="b"/>
              <a:pathLst>
                <a:path w="7559040" h="1320165">
                  <a:moveTo>
                    <a:pt x="0" y="95123"/>
                  </a:moveTo>
                  <a:lnTo>
                    <a:pt x="7469" y="58078"/>
                  </a:lnTo>
                  <a:lnTo>
                    <a:pt x="27844" y="27844"/>
                  </a:lnTo>
                  <a:lnTo>
                    <a:pt x="58078" y="7469"/>
                  </a:lnTo>
                  <a:lnTo>
                    <a:pt x="95123" y="0"/>
                  </a:lnTo>
                  <a:lnTo>
                    <a:pt x="7463917" y="0"/>
                  </a:lnTo>
                  <a:lnTo>
                    <a:pt x="7500961" y="7469"/>
                  </a:lnTo>
                  <a:lnTo>
                    <a:pt x="7531195" y="27844"/>
                  </a:lnTo>
                  <a:lnTo>
                    <a:pt x="7551570" y="58078"/>
                  </a:lnTo>
                  <a:lnTo>
                    <a:pt x="7559040" y="95123"/>
                  </a:lnTo>
                  <a:lnTo>
                    <a:pt x="7559040" y="1224661"/>
                  </a:lnTo>
                  <a:lnTo>
                    <a:pt x="7551570" y="1261705"/>
                  </a:lnTo>
                  <a:lnTo>
                    <a:pt x="7531195" y="1291939"/>
                  </a:lnTo>
                  <a:lnTo>
                    <a:pt x="7500961" y="1312314"/>
                  </a:lnTo>
                  <a:lnTo>
                    <a:pt x="7463917" y="1319784"/>
                  </a:lnTo>
                  <a:lnTo>
                    <a:pt x="95123" y="1319784"/>
                  </a:lnTo>
                  <a:lnTo>
                    <a:pt x="58078" y="1312314"/>
                  </a:lnTo>
                  <a:lnTo>
                    <a:pt x="27844" y="1291939"/>
                  </a:lnTo>
                  <a:lnTo>
                    <a:pt x="7469" y="1261705"/>
                  </a:lnTo>
                  <a:lnTo>
                    <a:pt x="0" y="1224661"/>
                  </a:lnTo>
                  <a:lnTo>
                    <a:pt x="0" y="95123"/>
                  </a:lnTo>
                  <a:close/>
                </a:path>
              </a:pathLst>
            </a:custGeom>
            <a:ln w="9144">
              <a:solidFill>
                <a:srgbClr val="DDD2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03289" y="5681294"/>
            <a:ext cx="6211570" cy="850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229" dirty="0">
                <a:solidFill>
                  <a:srgbClr val="454240"/>
                </a:solidFill>
                <a:latin typeface="Cambria"/>
                <a:cs typeface="Cambria"/>
              </a:rPr>
              <a:t>Poor</a:t>
            </a:r>
            <a:r>
              <a:rPr sz="2200" spc="145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2200" spc="155" dirty="0">
                <a:solidFill>
                  <a:srgbClr val="454240"/>
                </a:solidFill>
                <a:latin typeface="Cambria"/>
                <a:cs typeface="Cambria"/>
              </a:rPr>
              <a:t>Visibility</a:t>
            </a: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No</a:t>
            </a:r>
            <a:r>
              <a:rPr sz="1750" spc="8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70" dirty="0">
                <a:solidFill>
                  <a:srgbClr val="454240"/>
                </a:solidFill>
                <a:latin typeface="Arial MT"/>
                <a:cs typeface="Arial MT"/>
              </a:rPr>
              <a:t>real-</a:t>
            </a:r>
            <a:r>
              <a:rPr sz="1750" spc="75" dirty="0">
                <a:solidFill>
                  <a:srgbClr val="454240"/>
                </a:solidFill>
                <a:latin typeface="Arial MT"/>
                <a:cs typeface="Arial MT"/>
              </a:rPr>
              <a:t>time</a:t>
            </a:r>
            <a:r>
              <a:rPr sz="1750" spc="5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454240"/>
                </a:solidFill>
                <a:latin typeface="Arial MT"/>
                <a:cs typeface="Arial MT"/>
              </a:rPr>
              <a:t>slot</a:t>
            </a:r>
            <a:r>
              <a:rPr sz="1750" spc="8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availability</a:t>
            </a:r>
            <a:r>
              <a:rPr sz="1750" spc="4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50" dirty="0">
                <a:solidFill>
                  <a:srgbClr val="454240"/>
                </a:solidFill>
                <a:latin typeface="Arial MT"/>
                <a:cs typeface="Arial MT"/>
              </a:rPr>
              <a:t>information</a:t>
            </a:r>
            <a:r>
              <a:rPr sz="1750" spc="7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454240"/>
                </a:solidFill>
                <a:latin typeface="Arial MT"/>
                <a:cs typeface="Arial MT"/>
              </a:rPr>
              <a:t>for</a:t>
            </a:r>
            <a:r>
              <a:rPr sz="1750" spc="9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parking</a:t>
            </a:r>
            <a:r>
              <a:rPr sz="1750" spc="2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facilities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704463" y="7695919"/>
            <a:ext cx="1833245" cy="453390"/>
            <a:chOff x="12704463" y="7695919"/>
            <a:chExt cx="1833245" cy="453390"/>
          </a:xfrm>
        </p:grpSpPr>
        <p:sp>
          <p:nvSpPr>
            <p:cNvPr id="17" name="object 17"/>
            <p:cNvSpPr/>
            <p:nvPr/>
          </p:nvSpPr>
          <p:spPr>
            <a:xfrm>
              <a:off x="12712699" y="7704156"/>
              <a:ext cx="1816735" cy="436880"/>
            </a:xfrm>
            <a:custGeom>
              <a:avLst/>
              <a:gdLst/>
              <a:ahLst/>
              <a:cxnLst/>
              <a:rect l="l" t="t" r="r" b="b"/>
              <a:pathLst>
                <a:path w="1816734" h="436879">
                  <a:moveTo>
                    <a:pt x="1816187" y="0"/>
                  </a:moveTo>
                  <a:lnTo>
                    <a:pt x="0" y="0"/>
                  </a:lnTo>
                  <a:lnTo>
                    <a:pt x="0" y="436543"/>
                  </a:lnTo>
                  <a:lnTo>
                    <a:pt x="1816187" y="436543"/>
                  </a:lnTo>
                  <a:lnTo>
                    <a:pt x="18161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12699" y="7704156"/>
              <a:ext cx="1816735" cy="436880"/>
            </a:xfrm>
            <a:custGeom>
              <a:avLst/>
              <a:gdLst/>
              <a:ahLst/>
              <a:cxnLst/>
              <a:rect l="l" t="t" r="r" b="b"/>
              <a:pathLst>
                <a:path w="1816734" h="436879">
                  <a:moveTo>
                    <a:pt x="0" y="436543"/>
                  </a:moveTo>
                  <a:lnTo>
                    <a:pt x="1816187" y="436543"/>
                  </a:lnTo>
                  <a:lnTo>
                    <a:pt x="1816187" y="0"/>
                  </a:lnTo>
                  <a:lnTo>
                    <a:pt x="0" y="0"/>
                  </a:lnTo>
                  <a:lnTo>
                    <a:pt x="0" y="436543"/>
                  </a:lnTo>
                  <a:close/>
                </a:path>
              </a:pathLst>
            </a:custGeom>
            <a:ln w="1647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834084"/>
            <a:ext cx="5125085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480" dirty="0"/>
              <a:t>System</a:t>
            </a:r>
            <a:r>
              <a:rPr spc="355" dirty="0"/>
              <a:t> </a:t>
            </a:r>
            <a:r>
              <a:rPr spc="465" dirty="0"/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1304" y="1869238"/>
            <a:ext cx="7559675" cy="75819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An</a:t>
            </a:r>
            <a:r>
              <a:rPr sz="1750" spc="8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5" dirty="0">
                <a:solidFill>
                  <a:srgbClr val="454240"/>
                </a:solidFill>
                <a:latin typeface="Arial MT"/>
                <a:cs typeface="Arial MT"/>
              </a:rPr>
              <a:t>automated</a:t>
            </a:r>
            <a:r>
              <a:rPr sz="1750" spc="7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solution</a:t>
            </a:r>
            <a:r>
              <a:rPr sz="1750" spc="8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50" dirty="0">
                <a:solidFill>
                  <a:srgbClr val="454240"/>
                </a:solidFill>
                <a:latin typeface="Arial MT"/>
                <a:cs typeface="Arial MT"/>
              </a:rPr>
              <a:t>combining</a:t>
            </a:r>
            <a:r>
              <a:rPr sz="1750" spc="4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hardware</a:t>
            </a:r>
            <a:r>
              <a:rPr sz="1750" spc="2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80" dirty="0">
                <a:solidFill>
                  <a:srgbClr val="454240"/>
                </a:solidFill>
                <a:latin typeface="Arial MT"/>
                <a:cs typeface="Arial MT"/>
              </a:rPr>
              <a:t>detection</a:t>
            </a:r>
            <a:r>
              <a:rPr sz="1750" spc="8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454240"/>
                </a:solidFill>
                <a:latin typeface="Arial MT"/>
                <a:cs typeface="Arial MT"/>
              </a:rPr>
              <a:t>with</a:t>
            </a:r>
            <a:r>
              <a:rPr sz="1750" spc="8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intelligent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digital</a:t>
            </a:r>
            <a:r>
              <a:rPr sz="1750" spc="6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logic</a:t>
            </a:r>
            <a:r>
              <a:rPr sz="1750" spc="10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and</a:t>
            </a:r>
            <a:r>
              <a:rPr sz="1750" spc="5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80" dirty="0">
                <a:solidFill>
                  <a:srgbClr val="454240"/>
                </a:solidFill>
                <a:latin typeface="Arial MT"/>
                <a:cs typeface="Arial MT"/>
              </a:rPr>
              <a:t>embedded</a:t>
            </a:r>
            <a:r>
              <a:rPr sz="1750" spc="50" dirty="0">
                <a:solidFill>
                  <a:srgbClr val="454240"/>
                </a:solidFill>
                <a:latin typeface="Arial MT"/>
                <a:cs typeface="Arial MT"/>
              </a:rPr>
              <a:t> interfaces</a:t>
            </a:r>
            <a:r>
              <a:rPr sz="1750" spc="2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454240"/>
                </a:solidFill>
                <a:latin typeface="Arial MT"/>
                <a:cs typeface="Arial MT"/>
              </a:rPr>
              <a:t>for</a:t>
            </a:r>
            <a:r>
              <a:rPr sz="1750" spc="10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75" dirty="0">
                <a:solidFill>
                  <a:srgbClr val="454240"/>
                </a:solidFill>
                <a:latin typeface="Arial MT"/>
                <a:cs typeface="Arial MT"/>
              </a:rPr>
              <a:t>real-time</a:t>
            </a:r>
            <a:r>
              <a:rPr sz="1750" spc="8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parking</a:t>
            </a:r>
            <a:r>
              <a:rPr sz="1750" spc="3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management.</a:t>
            </a:r>
            <a:endParaRPr sz="17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80" y="3270503"/>
            <a:ext cx="1136903" cy="40812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42489" y="3472637"/>
            <a:ext cx="3169920" cy="357377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215" dirty="0">
                <a:solidFill>
                  <a:srgbClr val="454240"/>
                </a:solidFill>
                <a:latin typeface="Cambria"/>
                <a:cs typeface="Cambria"/>
              </a:rPr>
              <a:t>Vehicle</a:t>
            </a:r>
            <a:r>
              <a:rPr sz="2200" spc="155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2200" spc="200" dirty="0">
                <a:solidFill>
                  <a:srgbClr val="454240"/>
                </a:solidFill>
                <a:latin typeface="Cambria"/>
                <a:cs typeface="Cambria"/>
              </a:rPr>
              <a:t>Detection</a:t>
            </a: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-165" dirty="0">
                <a:solidFill>
                  <a:srgbClr val="454240"/>
                </a:solidFill>
                <a:latin typeface="Arial MT"/>
                <a:cs typeface="Arial MT"/>
              </a:rPr>
              <a:t>IR</a:t>
            </a:r>
            <a:r>
              <a:rPr sz="1750" spc="3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sensors</a:t>
            </a:r>
            <a:r>
              <a:rPr sz="1750" spc="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5" dirty="0">
                <a:solidFill>
                  <a:srgbClr val="454240"/>
                </a:solidFill>
                <a:latin typeface="Arial MT"/>
                <a:cs typeface="Arial MT"/>
              </a:rPr>
              <a:t>identify</a:t>
            </a:r>
            <a:r>
              <a:rPr sz="1750" spc="5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5" dirty="0">
                <a:solidFill>
                  <a:srgbClr val="454240"/>
                </a:solidFill>
                <a:latin typeface="Arial MT"/>
                <a:cs typeface="Arial MT"/>
              </a:rPr>
              <a:t>entry/exit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spc="210" dirty="0">
                <a:solidFill>
                  <a:srgbClr val="454240"/>
                </a:solidFill>
                <a:latin typeface="Cambria"/>
                <a:cs typeface="Cambria"/>
              </a:rPr>
              <a:t>Verilog</a:t>
            </a:r>
            <a:r>
              <a:rPr sz="2200" spc="125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2200" spc="235" dirty="0">
                <a:solidFill>
                  <a:srgbClr val="454240"/>
                </a:solidFill>
                <a:latin typeface="Cambria"/>
                <a:cs typeface="Cambria"/>
              </a:rPr>
              <a:t>Logic</a:t>
            </a: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55" dirty="0">
                <a:solidFill>
                  <a:srgbClr val="454240"/>
                </a:solidFill>
                <a:latin typeface="Arial MT"/>
                <a:cs typeface="Arial MT"/>
              </a:rPr>
              <a:t>Hardware-based</a:t>
            </a:r>
            <a:r>
              <a:rPr sz="1750" spc="-4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454240"/>
                </a:solidFill>
                <a:latin typeface="Arial MT"/>
                <a:cs typeface="Arial MT"/>
              </a:rPr>
              <a:t>slot</a:t>
            </a:r>
            <a:r>
              <a:rPr sz="1750" spc="-7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45" dirty="0">
                <a:solidFill>
                  <a:srgbClr val="454240"/>
                </a:solidFill>
                <a:latin typeface="Arial MT"/>
                <a:cs typeface="Arial MT"/>
              </a:rPr>
              <a:t>counting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spc="210" dirty="0">
                <a:solidFill>
                  <a:srgbClr val="454240"/>
                </a:solidFill>
                <a:latin typeface="Cambria"/>
                <a:cs typeface="Cambria"/>
              </a:rPr>
              <a:t>Display</a:t>
            </a:r>
            <a:r>
              <a:rPr sz="2200" spc="155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2200" spc="254" dirty="0">
                <a:solidFill>
                  <a:srgbClr val="454240"/>
                </a:solidFill>
                <a:latin typeface="Cambria"/>
                <a:cs typeface="Cambria"/>
              </a:rPr>
              <a:t>Output</a:t>
            </a: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Real-</a:t>
            </a:r>
            <a:r>
              <a:rPr sz="1750" spc="75" dirty="0">
                <a:solidFill>
                  <a:srgbClr val="454240"/>
                </a:solidFill>
                <a:latin typeface="Arial MT"/>
                <a:cs typeface="Arial MT"/>
              </a:rPr>
              <a:t>time</a:t>
            </a:r>
            <a:r>
              <a:rPr sz="1750" spc="5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user</a:t>
            </a:r>
            <a:r>
              <a:rPr sz="1750" spc="3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45" dirty="0">
                <a:solidFill>
                  <a:srgbClr val="454240"/>
                </a:solidFill>
                <a:latin typeface="Arial MT"/>
                <a:cs typeface="Arial MT"/>
              </a:rPr>
              <a:t>interface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79063" y="7695919"/>
            <a:ext cx="1894839" cy="466725"/>
            <a:chOff x="12679063" y="7695919"/>
            <a:chExt cx="1894839" cy="466725"/>
          </a:xfrm>
        </p:grpSpPr>
        <p:sp>
          <p:nvSpPr>
            <p:cNvPr id="3" name="object 3"/>
            <p:cNvSpPr/>
            <p:nvPr/>
          </p:nvSpPr>
          <p:spPr>
            <a:xfrm>
              <a:off x="12687299" y="7704156"/>
              <a:ext cx="1878330" cy="436880"/>
            </a:xfrm>
            <a:custGeom>
              <a:avLst/>
              <a:gdLst/>
              <a:ahLst/>
              <a:cxnLst/>
              <a:rect l="l" t="t" r="r" b="b"/>
              <a:pathLst>
                <a:path w="1878330" h="436879">
                  <a:moveTo>
                    <a:pt x="1877962" y="0"/>
                  </a:moveTo>
                  <a:lnTo>
                    <a:pt x="0" y="0"/>
                  </a:lnTo>
                  <a:lnTo>
                    <a:pt x="0" y="436543"/>
                  </a:lnTo>
                  <a:lnTo>
                    <a:pt x="1877962" y="436543"/>
                  </a:lnTo>
                  <a:lnTo>
                    <a:pt x="18779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687299" y="7704156"/>
              <a:ext cx="1878330" cy="436880"/>
            </a:xfrm>
            <a:custGeom>
              <a:avLst/>
              <a:gdLst/>
              <a:ahLst/>
              <a:cxnLst/>
              <a:rect l="l" t="t" r="r" b="b"/>
              <a:pathLst>
                <a:path w="1878330" h="436879">
                  <a:moveTo>
                    <a:pt x="0" y="436543"/>
                  </a:moveTo>
                  <a:lnTo>
                    <a:pt x="1877962" y="436543"/>
                  </a:lnTo>
                  <a:lnTo>
                    <a:pt x="1877962" y="0"/>
                  </a:lnTo>
                  <a:lnTo>
                    <a:pt x="0" y="0"/>
                  </a:lnTo>
                  <a:lnTo>
                    <a:pt x="0" y="436543"/>
                  </a:lnTo>
                  <a:close/>
                </a:path>
              </a:pathLst>
            </a:custGeom>
            <a:ln w="1647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2866" y="467309"/>
            <a:ext cx="4240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85" dirty="0"/>
              <a:t>System</a:t>
            </a:r>
            <a:r>
              <a:rPr sz="3600" spc="260" dirty="0"/>
              <a:t> </a:t>
            </a:r>
            <a:r>
              <a:rPr sz="3600" spc="385" dirty="0"/>
              <a:t>Workflow</a:t>
            </a:r>
            <a:endParaRPr sz="36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176" y="1371600"/>
            <a:ext cx="551687" cy="122529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70457" y="1615821"/>
            <a:ext cx="468947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75" dirty="0">
                <a:solidFill>
                  <a:srgbClr val="454240"/>
                </a:solidFill>
                <a:latin typeface="Cambria"/>
                <a:cs typeface="Cambria"/>
              </a:rPr>
              <a:t>Vehicle</a:t>
            </a:r>
            <a:r>
              <a:rPr sz="1800" spc="114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1800" spc="160" dirty="0">
                <a:solidFill>
                  <a:srgbClr val="454240"/>
                </a:solidFill>
                <a:latin typeface="Cambria"/>
                <a:cs typeface="Cambria"/>
              </a:rPr>
              <a:t>Detection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450" spc="-145" dirty="0">
                <a:solidFill>
                  <a:srgbClr val="454240"/>
                </a:solidFill>
                <a:latin typeface="Arial MT"/>
                <a:cs typeface="Arial MT"/>
              </a:rPr>
              <a:t>IR</a:t>
            </a:r>
            <a:r>
              <a:rPr sz="1450" spc="4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sensors</a:t>
            </a:r>
            <a:r>
              <a:rPr sz="1450" spc="6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50" dirty="0">
                <a:solidFill>
                  <a:srgbClr val="454240"/>
                </a:solidFill>
                <a:latin typeface="Arial MT"/>
                <a:cs typeface="Arial MT"/>
              </a:rPr>
              <a:t>at</a:t>
            </a:r>
            <a:r>
              <a:rPr sz="1450" spc="9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50" dirty="0">
                <a:solidFill>
                  <a:srgbClr val="454240"/>
                </a:solidFill>
                <a:latin typeface="Arial MT"/>
                <a:cs typeface="Arial MT"/>
              </a:rPr>
              <a:t>entry/exit</a:t>
            </a:r>
            <a:r>
              <a:rPr sz="1450" spc="114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points</a:t>
            </a:r>
            <a:r>
              <a:rPr sz="1450" spc="9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80" dirty="0">
                <a:solidFill>
                  <a:srgbClr val="454240"/>
                </a:solidFill>
                <a:latin typeface="Arial MT"/>
                <a:cs typeface="Arial MT"/>
              </a:rPr>
              <a:t>detect</a:t>
            </a:r>
            <a:r>
              <a:rPr sz="1450" spc="9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vehicle</a:t>
            </a:r>
            <a:r>
              <a:rPr sz="1450" spc="114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54240"/>
                </a:solidFill>
                <a:latin typeface="Arial MT"/>
                <a:cs typeface="Arial MT"/>
              </a:rPr>
              <a:t>presence</a:t>
            </a:r>
            <a:endParaRPr sz="14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176" y="2746249"/>
            <a:ext cx="551688" cy="1143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70457" y="2906953"/>
            <a:ext cx="488124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5" dirty="0">
                <a:solidFill>
                  <a:srgbClr val="454240"/>
                </a:solidFill>
                <a:latin typeface="Cambria"/>
                <a:cs typeface="Cambria"/>
              </a:rPr>
              <a:t>Signal</a:t>
            </a:r>
            <a:r>
              <a:rPr sz="1800" spc="110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1800" spc="140" dirty="0">
                <a:solidFill>
                  <a:srgbClr val="454240"/>
                </a:solidFill>
                <a:latin typeface="Cambria"/>
                <a:cs typeface="Cambria"/>
              </a:rPr>
              <a:t>Processing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450" spc="-20" dirty="0">
                <a:solidFill>
                  <a:srgbClr val="454240"/>
                </a:solidFill>
                <a:latin typeface="Arial MT"/>
                <a:cs typeface="Arial MT"/>
              </a:rPr>
              <a:t>Signals</a:t>
            </a:r>
            <a:r>
              <a:rPr sz="1450" spc="9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50" dirty="0">
                <a:solidFill>
                  <a:srgbClr val="454240"/>
                </a:solidFill>
                <a:latin typeface="Arial MT"/>
                <a:cs typeface="Arial MT"/>
              </a:rPr>
              <a:t>transmitted</a:t>
            </a:r>
            <a:r>
              <a:rPr sz="1450" spc="12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85" dirty="0">
                <a:solidFill>
                  <a:srgbClr val="454240"/>
                </a:solidFill>
                <a:latin typeface="Arial MT"/>
                <a:cs typeface="Arial MT"/>
              </a:rPr>
              <a:t>to</a:t>
            </a:r>
            <a:r>
              <a:rPr sz="1450" spc="2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Verilog</a:t>
            </a:r>
            <a:r>
              <a:rPr sz="1450" spc="6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module</a:t>
            </a:r>
            <a:r>
              <a:rPr sz="1450" spc="6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50" dirty="0">
                <a:solidFill>
                  <a:srgbClr val="454240"/>
                </a:solidFill>
                <a:latin typeface="Arial MT"/>
                <a:cs typeface="Arial MT"/>
              </a:rPr>
              <a:t>for</a:t>
            </a:r>
            <a:r>
              <a:rPr sz="1450" spc="2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logic</a:t>
            </a:r>
            <a:r>
              <a:rPr sz="1450" spc="6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54240"/>
                </a:solidFill>
                <a:latin typeface="Arial MT"/>
                <a:cs typeface="Arial MT"/>
              </a:rPr>
              <a:t>evaluation</a:t>
            </a:r>
            <a:endParaRPr sz="1450" dirty="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176" y="4034028"/>
            <a:ext cx="554736" cy="11430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370457" y="4214380"/>
            <a:ext cx="553148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5" dirty="0">
                <a:solidFill>
                  <a:srgbClr val="454240"/>
                </a:solidFill>
                <a:latin typeface="Cambria"/>
                <a:cs typeface="Cambria"/>
              </a:rPr>
              <a:t>Slot</a:t>
            </a:r>
            <a:r>
              <a:rPr sz="1800" spc="125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1800" spc="200" dirty="0">
                <a:solidFill>
                  <a:srgbClr val="454240"/>
                </a:solidFill>
                <a:latin typeface="Cambria"/>
                <a:cs typeface="Cambria"/>
              </a:rPr>
              <a:t>Counter</a:t>
            </a:r>
            <a:r>
              <a:rPr sz="1800" spc="114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1800" spc="175" dirty="0">
                <a:solidFill>
                  <a:srgbClr val="454240"/>
                </a:solidFill>
                <a:latin typeface="Cambria"/>
                <a:cs typeface="Cambria"/>
              </a:rPr>
              <a:t>Update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Available</a:t>
            </a:r>
            <a:r>
              <a:rPr sz="1450" spc="18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parking</a:t>
            </a:r>
            <a:r>
              <a:rPr sz="1450" spc="15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slots</a:t>
            </a:r>
            <a:r>
              <a:rPr sz="1450" spc="10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incremented</a:t>
            </a:r>
            <a:r>
              <a:rPr sz="1450" spc="19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or</a:t>
            </a:r>
            <a:r>
              <a:rPr sz="1450" spc="45" dirty="0">
                <a:solidFill>
                  <a:srgbClr val="454240"/>
                </a:solidFill>
                <a:latin typeface="Arial MT"/>
                <a:cs typeface="Arial MT"/>
              </a:rPr>
              <a:t> decremented</a:t>
            </a:r>
            <a:r>
              <a:rPr sz="1450" spc="17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in</a:t>
            </a:r>
            <a:r>
              <a:rPr sz="1450" spc="9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50" dirty="0">
                <a:solidFill>
                  <a:srgbClr val="454240"/>
                </a:solidFill>
                <a:latin typeface="Arial MT"/>
                <a:cs typeface="Arial MT"/>
              </a:rPr>
              <a:t>real-</a:t>
            </a:r>
            <a:r>
              <a:rPr sz="1450" spc="35" dirty="0">
                <a:solidFill>
                  <a:srgbClr val="454240"/>
                </a:solidFill>
                <a:latin typeface="Arial MT"/>
                <a:cs typeface="Arial MT"/>
              </a:rPr>
              <a:t>time</a:t>
            </a:r>
            <a:endParaRPr sz="145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176" y="5292498"/>
            <a:ext cx="554736" cy="11430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70457" y="5545253"/>
            <a:ext cx="4964430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75" dirty="0">
                <a:solidFill>
                  <a:srgbClr val="454240"/>
                </a:solidFill>
                <a:latin typeface="Cambria"/>
                <a:cs typeface="Cambria"/>
              </a:rPr>
              <a:t>Data</a:t>
            </a:r>
            <a:r>
              <a:rPr sz="1800" spc="114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1800" spc="160" dirty="0">
                <a:solidFill>
                  <a:srgbClr val="454240"/>
                </a:solidFill>
                <a:latin typeface="Cambria"/>
                <a:cs typeface="Cambria"/>
              </a:rPr>
              <a:t>Transmission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Microcontroller</a:t>
            </a:r>
            <a:r>
              <a:rPr sz="1450" spc="24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communicates</a:t>
            </a:r>
            <a:r>
              <a:rPr sz="1450" spc="30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via</a:t>
            </a:r>
            <a:r>
              <a:rPr sz="1450" spc="15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-114" dirty="0">
                <a:solidFill>
                  <a:srgbClr val="454240"/>
                </a:solidFill>
                <a:latin typeface="Arial MT"/>
                <a:cs typeface="Arial MT"/>
              </a:rPr>
              <a:t>UART</a:t>
            </a:r>
            <a:r>
              <a:rPr sz="1450" spc="18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or</a:t>
            </a:r>
            <a:r>
              <a:rPr sz="1450" spc="14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serial</a:t>
            </a:r>
            <a:r>
              <a:rPr sz="1450" spc="19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54240"/>
                </a:solidFill>
                <a:latin typeface="Arial MT"/>
                <a:cs typeface="Arial MT"/>
              </a:rPr>
              <a:t>interface</a:t>
            </a:r>
            <a:endParaRPr sz="1450" dirty="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176" y="6619291"/>
            <a:ext cx="554736" cy="11430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370457" y="6845986"/>
            <a:ext cx="432752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5" dirty="0">
                <a:solidFill>
                  <a:srgbClr val="454240"/>
                </a:solidFill>
                <a:latin typeface="Cambria"/>
                <a:cs typeface="Cambria"/>
              </a:rPr>
              <a:t>Display</a:t>
            </a:r>
            <a:r>
              <a:rPr sz="1800" spc="130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1800" spc="175" dirty="0">
                <a:solidFill>
                  <a:srgbClr val="454240"/>
                </a:solidFill>
                <a:latin typeface="Cambria"/>
                <a:cs typeface="Cambria"/>
              </a:rPr>
              <a:t>Update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450" spc="-20" dirty="0">
                <a:solidFill>
                  <a:srgbClr val="454240"/>
                </a:solidFill>
                <a:latin typeface="Arial MT"/>
                <a:cs typeface="Arial MT"/>
              </a:rPr>
              <a:t>LCD</a:t>
            </a:r>
            <a:r>
              <a:rPr sz="1450" spc="2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or</a:t>
            </a:r>
            <a:r>
              <a:rPr sz="1450" spc="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-90" dirty="0">
                <a:solidFill>
                  <a:srgbClr val="454240"/>
                </a:solidFill>
                <a:latin typeface="Arial MT"/>
                <a:cs typeface="Arial MT"/>
              </a:rPr>
              <a:t>LED</a:t>
            </a:r>
            <a:r>
              <a:rPr sz="1450" spc="1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shows</a:t>
            </a:r>
            <a:r>
              <a:rPr sz="1450" spc="2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available</a:t>
            </a:r>
            <a:r>
              <a:rPr sz="1450" spc="12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slots</a:t>
            </a:r>
            <a:r>
              <a:rPr sz="1450" spc="2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90" dirty="0">
                <a:solidFill>
                  <a:srgbClr val="454240"/>
                </a:solidFill>
                <a:latin typeface="Arial MT"/>
                <a:cs typeface="Arial MT"/>
              </a:rPr>
              <a:t>to</a:t>
            </a:r>
            <a:r>
              <a:rPr sz="1450" spc="3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54240"/>
                </a:solidFill>
                <a:latin typeface="Arial MT"/>
                <a:cs typeface="Arial MT"/>
              </a:rPr>
              <a:t>users</a:t>
            </a:r>
            <a:r>
              <a:rPr sz="1450" spc="2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54240"/>
                </a:solidFill>
                <a:latin typeface="Arial MT"/>
                <a:cs typeface="Arial MT"/>
              </a:rPr>
              <a:t>instantly</a:t>
            </a:r>
            <a:endParaRPr sz="14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546047"/>
            <a:ext cx="4761230" cy="141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590"/>
              </a:lnSpc>
            </a:pPr>
            <a:r>
              <a:rPr spc="430" dirty="0"/>
              <a:t>Technical </a:t>
            </a:r>
            <a:r>
              <a:rPr spc="455" dirty="0"/>
              <a:t>Implementation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1304" y="3549472"/>
            <a:ext cx="234251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2200" spc="210" dirty="0">
                <a:solidFill>
                  <a:srgbClr val="5C4E3C"/>
                </a:solidFill>
                <a:latin typeface="Cambria"/>
                <a:cs typeface="Cambria"/>
              </a:rPr>
              <a:t>Future work</a:t>
            </a:r>
            <a:endParaRPr sz="22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1304" y="4198366"/>
            <a:ext cx="2971165" cy="1619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sz="1750" spc="-85" dirty="0">
                <a:solidFill>
                  <a:srgbClr val="454240"/>
                </a:solidFill>
                <a:latin typeface="Arial MT"/>
                <a:cs typeface="Arial MT"/>
              </a:rPr>
              <a:t>FPGA</a:t>
            </a:r>
            <a:r>
              <a:rPr sz="1750" spc="254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Development</a:t>
            </a:r>
            <a:r>
              <a:rPr sz="1750" spc="19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454240"/>
                </a:solidFill>
                <a:latin typeface="Arial MT"/>
                <a:cs typeface="Arial MT"/>
              </a:rPr>
              <a:t>Kit</a:t>
            </a:r>
            <a:endParaRPr sz="175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1385"/>
              </a:spcBef>
              <a:buChar char="•"/>
              <a:tabLst>
                <a:tab pos="356870" algn="l"/>
              </a:tabLst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Verilog</a:t>
            </a:r>
            <a:r>
              <a:rPr sz="1750" spc="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454240"/>
                </a:solidFill>
                <a:latin typeface="Arial MT"/>
                <a:cs typeface="Arial MT"/>
              </a:rPr>
              <a:t>HDL</a:t>
            </a:r>
            <a:r>
              <a:rPr sz="1750" spc="1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Language</a:t>
            </a:r>
            <a:endParaRPr sz="175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1380"/>
              </a:spcBef>
              <a:buChar char="•"/>
              <a:tabLst>
                <a:tab pos="356870" algn="l"/>
              </a:tabLst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Icarus</a:t>
            </a:r>
            <a:r>
              <a:rPr sz="1750" spc="4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Verilog</a:t>
            </a:r>
            <a:r>
              <a:rPr sz="1750" spc="7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Simulator</a:t>
            </a:r>
            <a:endParaRPr sz="175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1385"/>
              </a:spcBef>
              <a:buChar char="•"/>
              <a:tabLst>
                <a:tab pos="356870" algn="l"/>
              </a:tabLst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ModelSim</a:t>
            </a:r>
            <a:r>
              <a:rPr sz="1750" spc="7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454240"/>
                </a:solidFill>
                <a:latin typeface="Arial MT"/>
                <a:cs typeface="Arial MT"/>
              </a:rPr>
              <a:t>for</a:t>
            </a:r>
            <a:r>
              <a:rPr sz="1750" spc="6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35" dirty="0">
                <a:solidFill>
                  <a:srgbClr val="454240"/>
                </a:solidFill>
                <a:latin typeface="Arial MT"/>
                <a:cs typeface="Arial MT"/>
              </a:rPr>
              <a:t>Verification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4541" y="3532064"/>
            <a:ext cx="1886585" cy="73406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2200" spc="265" dirty="0">
                <a:solidFill>
                  <a:srgbClr val="5C4E3C"/>
                </a:solidFill>
                <a:latin typeface="Cambria"/>
                <a:cs typeface="Cambria"/>
              </a:rPr>
              <a:t>Embedded</a:t>
            </a: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2200" spc="265" dirty="0">
                <a:solidFill>
                  <a:srgbClr val="5C4E3C"/>
                </a:solidFill>
                <a:latin typeface="Cambria"/>
                <a:cs typeface="Cambria"/>
              </a:rPr>
              <a:t>Components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44541" y="4552950"/>
            <a:ext cx="3363595" cy="198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Arduino/ARM</a:t>
            </a:r>
            <a:r>
              <a:rPr sz="1750" spc="204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40" dirty="0">
                <a:solidFill>
                  <a:srgbClr val="454240"/>
                </a:solidFill>
                <a:latin typeface="Arial MT"/>
                <a:cs typeface="Arial MT"/>
              </a:rPr>
              <a:t>Microcontroller</a:t>
            </a:r>
            <a:endParaRPr sz="175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1385"/>
              </a:spcBef>
              <a:buChar char="•"/>
              <a:tabLst>
                <a:tab pos="356870" algn="l"/>
              </a:tabLst>
            </a:pPr>
            <a:r>
              <a:rPr sz="1750" spc="50" dirty="0">
                <a:solidFill>
                  <a:srgbClr val="454240"/>
                </a:solidFill>
                <a:latin typeface="Arial MT"/>
                <a:cs typeface="Arial MT"/>
              </a:rPr>
              <a:t>Embedded</a:t>
            </a:r>
            <a:r>
              <a:rPr sz="1750" spc="-4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C</a:t>
            </a:r>
            <a:r>
              <a:rPr sz="1750" spc="-1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Programming</a:t>
            </a:r>
            <a:endParaRPr sz="175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1380"/>
              </a:spcBef>
              <a:buChar char="•"/>
              <a:tabLst>
                <a:tab pos="356870" algn="l"/>
              </a:tabLst>
            </a:pPr>
            <a:r>
              <a:rPr sz="1750" spc="-125" dirty="0">
                <a:solidFill>
                  <a:srgbClr val="454240"/>
                </a:solidFill>
                <a:latin typeface="Arial MT"/>
                <a:cs typeface="Arial MT"/>
              </a:rPr>
              <a:t>UART</a:t>
            </a:r>
            <a:r>
              <a:rPr sz="1750" spc="-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40" dirty="0">
                <a:solidFill>
                  <a:srgbClr val="454240"/>
                </a:solidFill>
                <a:latin typeface="Arial MT"/>
                <a:cs typeface="Arial MT"/>
              </a:rPr>
              <a:t>Communication</a:t>
            </a:r>
            <a:endParaRPr sz="1750">
              <a:latin typeface="Arial MT"/>
              <a:cs typeface="Arial MT"/>
            </a:endParaRPr>
          </a:p>
          <a:p>
            <a:pPr marL="357505">
              <a:lnSpc>
                <a:spcPct val="100000"/>
              </a:lnSpc>
              <a:spcBef>
                <a:spcPts val="785"/>
              </a:spcBef>
            </a:pP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Protocol</a:t>
            </a:r>
            <a:endParaRPr sz="175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1360"/>
              </a:spcBef>
              <a:buChar char="•"/>
              <a:tabLst>
                <a:tab pos="356870" algn="l"/>
              </a:tabLst>
            </a:pPr>
            <a:r>
              <a:rPr sz="1750" spc="-25" dirty="0">
                <a:solidFill>
                  <a:srgbClr val="454240"/>
                </a:solidFill>
                <a:latin typeface="Arial MT"/>
                <a:cs typeface="Arial MT"/>
              </a:rPr>
              <a:t>LCD/LED</a:t>
            </a:r>
            <a:r>
              <a:rPr sz="1750" spc="4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Display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Driver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38176" y="7692835"/>
            <a:ext cx="1730375" cy="494665"/>
            <a:chOff x="12838176" y="7692835"/>
            <a:chExt cx="1730375" cy="494665"/>
          </a:xfrm>
        </p:grpSpPr>
        <p:sp>
          <p:nvSpPr>
            <p:cNvPr id="3" name="object 3"/>
            <p:cNvSpPr/>
            <p:nvPr/>
          </p:nvSpPr>
          <p:spPr>
            <a:xfrm>
              <a:off x="12877800" y="7701072"/>
              <a:ext cx="1682750" cy="478155"/>
            </a:xfrm>
            <a:custGeom>
              <a:avLst/>
              <a:gdLst/>
              <a:ahLst/>
              <a:cxnLst/>
              <a:rect l="l" t="t" r="r" b="b"/>
              <a:pathLst>
                <a:path w="1682750" h="478154">
                  <a:moveTo>
                    <a:pt x="1682341" y="0"/>
                  </a:moveTo>
                  <a:lnTo>
                    <a:pt x="0" y="0"/>
                  </a:lnTo>
                  <a:lnTo>
                    <a:pt x="0" y="477727"/>
                  </a:lnTo>
                  <a:lnTo>
                    <a:pt x="1682341" y="477727"/>
                  </a:lnTo>
                  <a:lnTo>
                    <a:pt x="16823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877800" y="7701072"/>
              <a:ext cx="1682750" cy="478155"/>
            </a:xfrm>
            <a:custGeom>
              <a:avLst/>
              <a:gdLst/>
              <a:ahLst/>
              <a:cxnLst/>
              <a:rect l="l" t="t" r="r" b="b"/>
              <a:pathLst>
                <a:path w="1682750" h="478154">
                  <a:moveTo>
                    <a:pt x="0" y="477727"/>
                  </a:moveTo>
                  <a:lnTo>
                    <a:pt x="1682341" y="477727"/>
                  </a:lnTo>
                  <a:lnTo>
                    <a:pt x="1682341" y="0"/>
                  </a:lnTo>
                  <a:lnTo>
                    <a:pt x="0" y="0"/>
                  </a:lnTo>
                  <a:lnTo>
                    <a:pt x="0" y="477727"/>
                  </a:lnTo>
                  <a:close/>
                </a:path>
              </a:pathLst>
            </a:custGeom>
            <a:ln w="1647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7646" y="584708"/>
            <a:ext cx="606933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545" dirty="0"/>
              <a:t>Core</a:t>
            </a:r>
            <a:r>
              <a:rPr sz="4400" spc="300" dirty="0"/>
              <a:t> </a:t>
            </a:r>
            <a:r>
              <a:rPr sz="4400" spc="400" dirty="0"/>
              <a:t>Verilog</a:t>
            </a:r>
            <a:r>
              <a:rPr sz="4400" spc="365" dirty="0"/>
              <a:t> </a:t>
            </a:r>
            <a:r>
              <a:rPr sz="4400" spc="535" dirty="0"/>
              <a:t>Module</a:t>
            </a:r>
            <a:endParaRPr sz="4400"/>
          </a:p>
        </p:txBody>
      </p:sp>
      <p:sp>
        <p:nvSpPr>
          <p:cNvPr id="6" name="object 6"/>
          <p:cNvSpPr/>
          <p:nvPr/>
        </p:nvSpPr>
        <p:spPr>
          <a:xfrm>
            <a:off x="780288" y="2392679"/>
            <a:ext cx="13070205" cy="4672965"/>
          </a:xfrm>
          <a:custGeom>
            <a:avLst/>
            <a:gdLst/>
            <a:ahLst/>
            <a:cxnLst/>
            <a:rect l="l" t="t" r="r" b="b"/>
            <a:pathLst>
              <a:path w="13070205" h="4672965">
                <a:moveTo>
                  <a:pt x="13069824" y="33909"/>
                </a:moveTo>
                <a:lnTo>
                  <a:pt x="13067157" y="20688"/>
                </a:lnTo>
                <a:lnTo>
                  <a:pt x="13059918" y="9906"/>
                </a:lnTo>
                <a:lnTo>
                  <a:pt x="13049136" y="2667"/>
                </a:lnTo>
                <a:lnTo>
                  <a:pt x="13035915" y="0"/>
                </a:lnTo>
                <a:lnTo>
                  <a:pt x="12965811" y="0"/>
                </a:lnTo>
                <a:lnTo>
                  <a:pt x="103987" y="0"/>
                </a:lnTo>
                <a:lnTo>
                  <a:pt x="33870" y="0"/>
                </a:lnTo>
                <a:lnTo>
                  <a:pt x="20675" y="2667"/>
                </a:lnTo>
                <a:lnTo>
                  <a:pt x="9918" y="9906"/>
                </a:lnTo>
                <a:lnTo>
                  <a:pt x="2654" y="20688"/>
                </a:lnTo>
                <a:lnTo>
                  <a:pt x="0" y="33909"/>
                </a:lnTo>
                <a:lnTo>
                  <a:pt x="0" y="4638713"/>
                </a:lnTo>
                <a:lnTo>
                  <a:pt x="2654" y="4651908"/>
                </a:lnTo>
                <a:lnTo>
                  <a:pt x="9918" y="4662665"/>
                </a:lnTo>
                <a:lnTo>
                  <a:pt x="20675" y="4669929"/>
                </a:lnTo>
                <a:lnTo>
                  <a:pt x="33870" y="4672584"/>
                </a:lnTo>
                <a:lnTo>
                  <a:pt x="103987" y="4672584"/>
                </a:lnTo>
                <a:lnTo>
                  <a:pt x="12965811" y="4672584"/>
                </a:lnTo>
                <a:lnTo>
                  <a:pt x="13035915" y="4672584"/>
                </a:lnTo>
                <a:lnTo>
                  <a:pt x="13049136" y="4669929"/>
                </a:lnTo>
                <a:lnTo>
                  <a:pt x="13059918" y="4662665"/>
                </a:lnTo>
                <a:lnTo>
                  <a:pt x="13067157" y="4651908"/>
                </a:lnTo>
                <a:lnTo>
                  <a:pt x="13069824" y="4638713"/>
                </a:lnTo>
                <a:lnTo>
                  <a:pt x="13069824" y="33909"/>
                </a:lnTo>
                <a:close/>
              </a:path>
            </a:pathLst>
          </a:custGeom>
          <a:solidFill>
            <a:srgbClr val="F1EF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7646" y="1812162"/>
            <a:ext cx="12710795" cy="28482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Parking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454240"/>
                </a:solidFill>
                <a:latin typeface="Arial MT"/>
                <a:cs typeface="Arial MT"/>
              </a:rPr>
              <a:t>slot</a:t>
            </a:r>
            <a:r>
              <a:rPr sz="1750" spc="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5" dirty="0">
                <a:solidFill>
                  <a:srgbClr val="454240"/>
                </a:solidFill>
                <a:latin typeface="Arial MT"/>
                <a:cs typeface="Arial MT"/>
              </a:rPr>
              <a:t>counter</a:t>
            </a:r>
            <a:r>
              <a:rPr sz="1750" spc="-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logic</a:t>
            </a:r>
            <a:r>
              <a:rPr sz="1750" spc="2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454240"/>
                </a:solidFill>
                <a:latin typeface="Arial MT"/>
                <a:cs typeface="Arial MT"/>
              </a:rPr>
              <a:t>implemented</a:t>
            </a:r>
            <a:r>
              <a:rPr sz="1750" spc="2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in</a:t>
            </a:r>
            <a:r>
              <a:rPr sz="1750" spc="1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hardware:</a:t>
            </a:r>
            <a:endParaRPr sz="17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1750" dirty="0">
              <a:latin typeface="Arial MT"/>
              <a:cs typeface="Arial MT"/>
            </a:endParaRPr>
          </a:p>
          <a:p>
            <a:pPr marL="226695" marR="5080">
              <a:lnSpc>
                <a:spcPct val="132700"/>
              </a:lnSpc>
              <a:tabLst>
                <a:tab pos="3036570" algn="l"/>
                <a:tab pos="3158490" algn="l"/>
                <a:tab pos="4624705" algn="l"/>
                <a:tab pos="6828155" algn="l"/>
                <a:tab pos="7071995" algn="l"/>
                <a:tab pos="10615930" algn="l"/>
                <a:tab pos="11472545" algn="l"/>
              </a:tabLst>
            </a:pP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module</a:t>
            </a:r>
            <a:r>
              <a:rPr sz="1750" spc="-3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spc="-10" dirty="0" err="1">
                <a:solidFill>
                  <a:srgbClr val="454240"/>
                </a:solidFill>
                <a:latin typeface="Consolas"/>
                <a:cs typeface="Consolas"/>
              </a:rPr>
              <a:t>parking_system</a:t>
            </a:r>
            <a:r>
              <a:rPr sz="1750" spc="-10" dirty="0">
                <a:solidFill>
                  <a:srgbClr val="454240"/>
                </a:solidFill>
                <a:latin typeface="Consolas"/>
                <a:cs typeface="Consolas"/>
              </a:rPr>
              <a:t>(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input</a:t>
            </a:r>
            <a:r>
              <a:rPr sz="1750" spc="-3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clk,</a:t>
            </a:r>
            <a:r>
              <a:rPr sz="1750" spc="-2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rst, entry,</a:t>
            </a:r>
            <a:r>
              <a:rPr sz="1750" spc="-20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spc="-10" dirty="0" err="1">
                <a:solidFill>
                  <a:srgbClr val="454240"/>
                </a:solidFill>
                <a:latin typeface="Consolas"/>
                <a:cs typeface="Consolas"/>
              </a:rPr>
              <a:t>exit,</a:t>
            </a:r>
            <a:r>
              <a:rPr sz="1750" dirty="0" err="1">
                <a:solidFill>
                  <a:srgbClr val="454240"/>
                </a:solidFill>
                <a:latin typeface="Consolas"/>
                <a:cs typeface="Consolas"/>
              </a:rPr>
              <a:t>output</a:t>
            </a:r>
            <a:r>
              <a:rPr sz="1750" spc="-40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reg</a:t>
            </a:r>
            <a:r>
              <a:rPr sz="1750" spc="-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[3:0]</a:t>
            </a:r>
            <a:r>
              <a:rPr sz="1750" spc="-2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spc="-10" dirty="0" err="1">
                <a:solidFill>
                  <a:srgbClr val="454240"/>
                </a:solidFill>
                <a:latin typeface="Consolas"/>
                <a:cs typeface="Consolas"/>
              </a:rPr>
              <a:t>free_slots</a:t>
            </a:r>
            <a:r>
              <a:rPr sz="1750" spc="-10" dirty="0">
                <a:solidFill>
                  <a:srgbClr val="454240"/>
                </a:solidFill>
                <a:latin typeface="Consolas"/>
                <a:cs typeface="Consolas"/>
              </a:rPr>
              <a:t>);</a:t>
            </a:r>
            <a:endParaRPr lang="en-IN" sz="1750" spc="-10" dirty="0">
              <a:solidFill>
                <a:srgbClr val="454240"/>
              </a:solidFill>
              <a:latin typeface="Consolas"/>
              <a:cs typeface="Consolas"/>
            </a:endParaRPr>
          </a:p>
          <a:p>
            <a:pPr marL="226695" marR="5080">
              <a:lnSpc>
                <a:spcPct val="132700"/>
              </a:lnSpc>
              <a:tabLst>
                <a:tab pos="3036570" algn="l"/>
                <a:tab pos="3158490" algn="l"/>
                <a:tab pos="4624705" algn="l"/>
                <a:tab pos="6828155" algn="l"/>
                <a:tab pos="7071995" algn="l"/>
                <a:tab pos="10615930" algn="l"/>
                <a:tab pos="11472545" algn="l"/>
              </a:tabLst>
            </a:pP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always</a:t>
            </a:r>
            <a:r>
              <a:rPr sz="1750" spc="-2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Consolas"/>
                <a:cs typeface="Consolas"/>
              </a:rPr>
              <a:t>@(posedge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clk</a:t>
            </a:r>
            <a:r>
              <a:rPr sz="1750" spc="-2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or</a:t>
            </a:r>
            <a:r>
              <a:rPr sz="1750" spc="-2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posedge </a:t>
            </a:r>
            <a:r>
              <a:rPr sz="1750" spc="-20" dirty="0">
                <a:solidFill>
                  <a:srgbClr val="454240"/>
                </a:solidFill>
                <a:latin typeface="Consolas"/>
                <a:cs typeface="Consolas"/>
              </a:rPr>
              <a:t>rst)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	</a:t>
            </a:r>
            <a:endParaRPr lang="en-IN" sz="1750" dirty="0">
              <a:solidFill>
                <a:srgbClr val="454240"/>
              </a:solidFill>
              <a:latin typeface="Consolas"/>
              <a:cs typeface="Consolas"/>
            </a:endParaRPr>
          </a:p>
          <a:p>
            <a:pPr marL="226695" marR="5080">
              <a:lnSpc>
                <a:spcPct val="132700"/>
              </a:lnSpc>
              <a:tabLst>
                <a:tab pos="3036570" algn="l"/>
                <a:tab pos="3158490" algn="l"/>
                <a:tab pos="4624705" algn="l"/>
                <a:tab pos="6828155" algn="l"/>
                <a:tab pos="7071995" algn="l"/>
                <a:tab pos="10615930" algn="l"/>
                <a:tab pos="11472545" algn="l"/>
              </a:tabLst>
            </a:pPr>
            <a:r>
              <a:rPr lang="en-IN" sz="1750" spc="-10" dirty="0">
                <a:solidFill>
                  <a:srgbClr val="454240"/>
                </a:solidFill>
                <a:latin typeface="Consolas"/>
                <a:cs typeface="Consolas"/>
              </a:rPr>
              <a:t>    </a:t>
            </a:r>
            <a:r>
              <a:rPr sz="1750" spc="-10" dirty="0">
                <a:solidFill>
                  <a:srgbClr val="454240"/>
                </a:solidFill>
                <a:latin typeface="Consolas"/>
                <a:cs typeface="Consolas"/>
              </a:rPr>
              <a:t>if(</a:t>
            </a:r>
            <a:r>
              <a:rPr sz="1750" spc="-10" dirty="0" err="1">
                <a:solidFill>
                  <a:srgbClr val="454240"/>
                </a:solidFill>
                <a:latin typeface="Consolas"/>
                <a:cs typeface="Consolas"/>
              </a:rPr>
              <a:t>rst</a:t>
            </a:r>
            <a:r>
              <a:rPr sz="1750" spc="-10" dirty="0">
                <a:solidFill>
                  <a:srgbClr val="454240"/>
                </a:solidFill>
                <a:latin typeface="Consolas"/>
                <a:cs typeface="Consolas"/>
              </a:rPr>
              <a:t>)</a:t>
            </a:r>
            <a:r>
              <a:rPr sz="1750" dirty="0" err="1">
                <a:solidFill>
                  <a:srgbClr val="454240"/>
                </a:solidFill>
                <a:latin typeface="Consolas"/>
                <a:cs typeface="Consolas"/>
              </a:rPr>
              <a:t>free_slots</a:t>
            </a:r>
            <a:r>
              <a:rPr sz="1750" spc="-2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&lt;=</a:t>
            </a:r>
            <a:r>
              <a:rPr sz="1750" spc="10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spc="-25" dirty="0">
                <a:solidFill>
                  <a:srgbClr val="454240"/>
                </a:solidFill>
                <a:latin typeface="Consolas"/>
                <a:cs typeface="Consolas"/>
              </a:rPr>
              <a:t>8;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		</a:t>
            </a:r>
            <a:endParaRPr lang="en-IN" sz="1750" dirty="0">
              <a:solidFill>
                <a:srgbClr val="454240"/>
              </a:solidFill>
              <a:latin typeface="Consolas"/>
              <a:cs typeface="Consolas"/>
            </a:endParaRPr>
          </a:p>
          <a:p>
            <a:pPr marL="226695" marR="5080">
              <a:lnSpc>
                <a:spcPct val="132700"/>
              </a:lnSpc>
              <a:tabLst>
                <a:tab pos="3036570" algn="l"/>
                <a:tab pos="3158490" algn="l"/>
                <a:tab pos="4624705" algn="l"/>
                <a:tab pos="6828155" algn="l"/>
                <a:tab pos="7071995" algn="l"/>
                <a:tab pos="10615930" algn="l"/>
                <a:tab pos="11472545" algn="l"/>
              </a:tabLst>
            </a:pPr>
            <a:r>
              <a:rPr lang="en-IN" sz="1750" dirty="0">
                <a:solidFill>
                  <a:srgbClr val="454240"/>
                </a:solidFill>
                <a:latin typeface="Consolas"/>
                <a:cs typeface="Consolas"/>
              </a:rPr>
              <a:t>   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else</a:t>
            </a:r>
            <a:r>
              <a:rPr sz="1750" spc="-3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if(entry</a:t>
            </a:r>
            <a:r>
              <a:rPr sz="1750" spc="-20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&amp;&amp;</a:t>
            </a:r>
            <a:r>
              <a:rPr sz="1750" spc="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Consolas"/>
                <a:cs typeface="Consolas"/>
              </a:rPr>
              <a:t>free_slots&gt;0)</a:t>
            </a:r>
            <a:r>
              <a:rPr sz="1750" spc="-10" dirty="0" err="1">
                <a:solidFill>
                  <a:srgbClr val="454240"/>
                </a:solidFill>
                <a:latin typeface="Consolas"/>
                <a:cs typeface="Consolas"/>
              </a:rPr>
              <a:t>free_slots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&lt;=</a:t>
            </a:r>
            <a:r>
              <a:rPr sz="1750" spc="-40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free_slots</a:t>
            </a:r>
            <a:r>
              <a:rPr sz="1750" spc="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-</a:t>
            </a:r>
            <a:r>
              <a:rPr sz="1750" spc="-20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spc="-25" dirty="0">
                <a:solidFill>
                  <a:srgbClr val="454240"/>
                </a:solidFill>
                <a:latin typeface="Consolas"/>
                <a:cs typeface="Consolas"/>
              </a:rPr>
              <a:t>1;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	</a:t>
            </a:r>
            <a:endParaRPr lang="en-IN" sz="1750" dirty="0">
              <a:solidFill>
                <a:srgbClr val="454240"/>
              </a:solidFill>
              <a:latin typeface="Consolas"/>
              <a:cs typeface="Consolas"/>
            </a:endParaRPr>
          </a:p>
          <a:p>
            <a:pPr marL="226695" marR="5080">
              <a:lnSpc>
                <a:spcPct val="132700"/>
              </a:lnSpc>
              <a:tabLst>
                <a:tab pos="3036570" algn="l"/>
                <a:tab pos="3158490" algn="l"/>
                <a:tab pos="4624705" algn="l"/>
                <a:tab pos="6828155" algn="l"/>
                <a:tab pos="7071995" algn="l"/>
                <a:tab pos="10615930" algn="l"/>
                <a:tab pos="11472545" algn="l"/>
              </a:tabLst>
            </a:pPr>
            <a:r>
              <a:rPr lang="en-IN" sz="1750">
                <a:solidFill>
                  <a:srgbClr val="454240"/>
                </a:solidFill>
                <a:latin typeface="Consolas"/>
                <a:cs typeface="Consolas"/>
              </a:rPr>
              <a:t>    </a:t>
            </a:r>
            <a:r>
              <a:rPr sz="1750">
                <a:solidFill>
                  <a:srgbClr val="454240"/>
                </a:solidFill>
                <a:latin typeface="Consolas"/>
                <a:cs typeface="Consolas"/>
              </a:rPr>
              <a:t>else</a:t>
            </a:r>
            <a:r>
              <a:rPr sz="1750" spc="1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Consolas"/>
                <a:cs typeface="Consolas"/>
              </a:rPr>
              <a:t>if(exit</a:t>
            </a:r>
            <a:r>
              <a:rPr lang="en-IN" sz="1750" spc="-10" dirty="0">
                <a:solidFill>
                  <a:srgbClr val="454240"/>
                </a:solidFill>
                <a:latin typeface="Consolas"/>
                <a:cs typeface="Consolas"/>
              </a:rPr>
              <a:t>)</a:t>
            </a:r>
            <a:r>
              <a:rPr sz="1750" dirty="0" err="1">
                <a:solidFill>
                  <a:srgbClr val="454240"/>
                </a:solidFill>
                <a:latin typeface="Consolas"/>
                <a:cs typeface="Consolas"/>
              </a:rPr>
              <a:t>free_slots</a:t>
            </a:r>
            <a:r>
              <a:rPr sz="1750" spc="-30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&lt;=</a:t>
            </a:r>
            <a:r>
              <a:rPr sz="1750" spc="-1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free_slots</a:t>
            </a:r>
            <a:r>
              <a:rPr sz="1750" spc="-1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dirty="0">
                <a:solidFill>
                  <a:srgbClr val="454240"/>
                </a:solidFill>
                <a:latin typeface="Consolas"/>
                <a:cs typeface="Consolas"/>
              </a:rPr>
              <a:t>+</a:t>
            </a:r>
            <a:r>
              <a:rPr sz="1750" spc="-15" dirty="0">
                <a:solidFill>
                  <a:srgbClr val="454240"/>
                </a:solidFill>
                <a:latin typeface="Consolas"/>
                <a:cs typeface="Consolas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Consolas"/>
                <a:cs typeface="Consolas"/>
              </a:rPr>
              <a:t>1;</a:t>
            </a:r>
            <a:endParaRPr lang="en-IN" sz="1750" spc="-10" dirty="0">
              <a:solidFill>
                <a:srgbClr val="454240"/>
              </a:solidFill>
              <a:latin typeface="Consolas"/>
              <a:cs typeface="Consolas"/>
            </a:endParaRPr>
          </a:p>
          <a:p>
            <a:pPr marL="226695" marR="5080">
              <a:lnSpc>
                <a:spcPct val="132700"/>
              </a:lnSpc>
              <a:tabLst>
                <a:tab pos="3036570" algn="l"/>
                <a:tab pos="3158490" algn="l"/>
                <a:tab pos="4624705" algn="l"/>
                <a:tab pos="6828155" algn="l"/>
                <a:tab pos="7071995" algn="l"/>
                <a:tab pos="10615930" algn="l"/>
                <a:tab pos="11472545" algn="l"/>
              </a:tabLst>
            </a:pPr>
            <a:r>
              <a:rPr sz="1750" spc="-10" dirty="0" err="1">
                <a:solidFill>
                  <a:srgbClr val="454240"/>
                </a:solidFill>
                <a:latin typeface="Consolas"/>
                <a:cs typeface="Consolas"/>
              </a:rPr>
              <a:t>endmodule</a:t>
            </a:r>
            <a:endParaRPr sz="175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646" y="7352182"/>
            <a:ext cx="96685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454240"/>
                </a:solidFill>
                <a:latin typeface="Arial"/>
                <a:cs typeface="Arial"/>
              </a:rPr>
              <a:t>Key</a:t>
            </a:r>
            <a:r>
              <a:rPr sz="1400" b="1" spc="30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54240"/>
                </a:solidFill>
                <a:latin typeface="Arial"/>
                <a:cs typeface="Arial"/>
              </a:rPr>
              <a:t>Features:</a:t>
            </a:r>
            <a:r>
              <a:rPr sz="1400" b="1" spc="190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Synchronous</a:t>
            </a:r>
            <a:r>
              <a:rPr sz="1400" spc="14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design,</a:t>
            </a:r>
            <a:r>
              <a:rPr sz="1400" spc="13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spc="50" dirty="0">
                <a:solidFill>
                  <a:srgbClr val="454240"/>
                </a:solidFill>
                <a:latin typeface="Arial MT"/>
                <a:cs typeface="Arial MT"/>
              </a:rPr>
              <a:t>real-</a:t>
            </a:r>
            <a:r>
              <a:rPr sz="1400" spc="60" dirty="0">
                <a:solidFill>
                  <a:srgbClr val="454240"/>
                </a:solidFill>
                <a:latin typeface="Arial MT"/>
                <a:cs typeface="Arial MT"/>
              </a:rPr>
              <a:t>time</a:t>
            </a:r>
            <a:r>
              <a:rPr sz="1400" spc="14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updates</a:t>
            </a:r>
            <a:r>
              <a:rPr sz="1400" spc="14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on</a:t>
            </a:r>
            <a:r>
              <a:rPr sz="1400" spc="7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clock</a:t>
            </a:r>
            <a:r>
              <a:rPr sz="1400" spc="11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pulse,</a:t>
            </a:r>
            <a:r>
              <a:rPr sz="1400" spc="13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spc="45" dirty="0">
                <a:solidFill>
                  <a:srgbClr val="454240"/>
                </a:solidFill>
                <a:latin typeface="Arial MT"/>
                <a:cs typeface="Arial MT"/>
              </a:rPr>
              <a:t>automatic</a:t>
            </a:r>
            <a:r>
              <a:rPr sz="1400" spc="18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reset</a:t>
            </a:r>
            <a:r>
              <a:rPr sz="1400" spc="10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capability,</a:t>
            </a:r>
            <a:r>
              <a:rPr sz="1400" spc="19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54240"/>
                </a:solidFill>
                <a:latin typeface="Arial MT"/>
                <a:cs typeface="Arial MT"/>
              </a:rPr>
              <a:t>overflow</a:t>
            </a:r>
            <a:r>
              <a:rPr sz="1400" spc="12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54240"/>
                </a:solidFill>
                <a:latin typeface="Arial MT"/>
                <a:cs typeface="Arial MT"/>
              </a:rPr>
              <a:t>prevention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1028522"/>
            <a:ext cx="4869180" cy="130111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ts val="5110"/>
              </a:lnSpc>
              <a:spcBef>
                <a:spcPts val="20"/>
              </a:spcBef>
            </a:pPr>
            <a:r>
              <a:rPr sz="4100" spc="505" dirty="0"/>
              <a:t>Key</a:t>
            </a:r>
            <a:r>
              <a:rPr sz="4100" spc="295" dirty="0"/>
              <a:t> </a:t>
            </a:r>
            <a:r>
              <a:rPr sz="4100" spc="355" dirty="0"/>
              <a:t>Advantages</a:t>
            </a:r>
            <a:r>
              <a:rPr sz="4100" spc="250" dirty="0"/>
              <a:t> </a:t>
            </a:r>
            <a:r>
              <a:rPr sz="4100" spc="710" dirty="0"/>
              <a:t>&amp; </a:t>
            </a:r>
            <a:r>
              <a:rPr sz="4100" spc="370" dirty="0"/>
              <a:t>Limitations</a:t>
            </a:r>
            <a:endParaRPr sz="4100"/>
          </a:p>
        </p:txBody>
      </p:sp>
      <p:sp>
        <p:nvSpPr>
          <p:cNvPr id="4" name="object 4"/>
          <p:cNvSpPr txBox="1"/>
          <p:nvPr/>
        </p:nvSpPr>
        <p:spPr>
          <a:xfrm>
            <a:off x="719124" y="2882341"/>
            <a:ext cx="181610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3210" indent="-270510">
              <a:lnSpc>
                <a:spcPct val="100000"/>
              </a:lnSpc>
              <a:spcBef>
                <a:spcPts val="90"/>
              </a:spcBef>
              <a:buFont typeface="Segoe UI Symbol"/>
              <a:buChar char="✓"/>
              <a:tabLst>
                <a:tab pos="283210" algn="l"/>
              </a:tabLst>
            </a:pPr>
            <a:r>
              <a:rPr sz="2050" spc="155" dirty="0">
                <a:solidFill>
                  <a:srgbClr val="5C4E3C"/>
                </a:solidFill>
                <a:latin typeface="Cambria"/>
                <a:cs typeface="Cambria"/>
              </a:rPr>
              <a:t>Advantages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124" y="3386150"/>
            <a:ext cx="3606800" cy="3659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394970" indent="-344805">
              <a:lnSpc>
                <a:spcPct val="1363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1" dirty="0">
                <a:solidFill>
                  <a:srgbClr val="454240"/>
                </a:solidFill>
                <a:latin typeface="Arial"/>
                <a:cs typeface="Arial"/>
              </a:rPr>
              <a:t>Real-</a:t>
            </a:r>
            <a:r>
              <a:rPr sz="1600" b="1" spc="65" dirty="0">
                <a:solidFill>
                  <a:srgbClr val="454240"/>
                </a:solidFill>
                <a:latin typeface="Arial"/>
                <a:cs typeface="Arial"/>
              </a:rPr>
              <a:t>time</a:t>
            </a:r>
            <a:r>
              <a:rPr sz="1600" b="1" spc="-35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240"/>
                </a:solidFill>
                <a:latin typeface="Arial"/>
                <a:cs typeface="Arial"/>
              </a:rPr>
              <a:t>Monitoring:</a:t>
            </a:r>
            <a:r>
              <a:rPr sz="1600" b="1" spc="35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454240"/>
                </a:solidFill>
                <a:latin typeface="Arial MT"/>
                <a:cs typeface="Arial MT"/>
              </a:rPr>
              <a:t>Instant </a:t>
            </a:r>
            <a:r>
              <a:rPr sz="1600" spc="60" dirty="0">
                <a:solidFill>
                  <a:srgbClr val="454240"/>
                </a:solidFill>
                <a:latin typeface="Arial MT"/>
                <a:cs typeface="Arial MT"/>
              </a:rPr>
              <a:t>slot</a:t>
            </a:r>
            <a:r>
              <a:rPr sz="1600" spc="9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454240"/>
                </a:solidFill>
                <a:latin typeface="Arial MT"/>
                <a:cs typeface="Arial MT"/>
              </a:rPr>
              <a:t>availability</a:t>
            </a:r>
            <a:r>
              <a:rPr sz="1600" spc="12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solidFill>
                  <a:srgbClr val="454240"/>
                </a:solidFill>
                <a:latin typeface="Arial MT"/>
                <a:cs typeface="Arial MT"/>
              </a:rPr>
              <a:t>updates</a:t>
            </a:r>
            <a:endParaRPr sz="16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1" spc="-20" dirty="0">
                <a:solidFill>
                  <a:srgbClr val="454240"/>
                </a:solidFill>
                <a:latin typeface="Arial"/>
                <a:cs typeface="Arial"/>
              </a:rPr>
              <a:t>Low</a:t>
            </a:r>
            <a:r>
              <a:rPr sz="1600" b="1" spc="20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240"/>
                </a:solidFill>
                <a:latin typeface="Arial"/>
                <a:cs typeface="Arial"/>
              </a:rPr>
              <a:t>Cost:</a:t>
            </a:r>
            <a:r>
              <a:rPr sz="1600" b="1" spc="80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Affordable</a:t>
            </a:r>
            <a:r>
              <a:rPr sz="1600" spc="9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-80" dirty="0">
                <a:solidFill>
                  <a:srgbClr val="454240"/>
                </a:solidFill>
                <a:latin typeface="Arial MT"/>
                <a:cs typeface="Arial MT"/>
              </a:rPr>
              <a:t>FPGA</a:t>
            </a:r>
            <a:r>
              <a:rPr sz="1600" spc="3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54240"/>
                </a:solidFill>
                <a:latin typeface="Arial MT"/>
                <a:cs typeface="Arial MT"/>
              </a:rPr>
              <a:t>and</a:t>
            </a:r>
            <a:endParaRPr sz="1600">
              <a:latin typeface="Arial MT"/>
              <a:cs typeface="Arial MT"/>
            </a:endParaRPr>
          </a:p>
          <a:p>
            <a:pPr marL="356870">
              <a:lnSpc>
                <a:spcPct val="100000"/>
              </a:lnSpc>
              <a:spcBef>
                <a:spcPts val="695"/>
              </a:spcBef>
            </a:pPr>
            <a:r>
              <a:rPr sz="1600" spc="75" dirty="0">
                <a:solidFill>
                  <a:srgbClr val="454240"/>
                </a:solidFill>
                <a:latin typeface="Arial MT"/>
                <a:cs typeface="Arial MT"/>
              </a:rPr>
              <a:t>embedded</a:t>
            </a:r>
            <a:r>
              <a:rPr sz="1600" spc="-7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54240"/>
                </a:solidFill>
                <a:latin typeface="Arial MT"/>
                <a:cs typeface="Arial MT"/>
              </a:rPr>
              <a:t>hardware</a:t>
            </a:r>
            <a:endParaRPr sz="1600">
              <a:latin typeface="Arial MT"/>
              <a:cs typeface="Arial MT"/>
            </a:endParaRPr>
          </a:p>
          <a:p>
            <a:pPr marL="356870" marR="5080" indent="-344805">
              <a:lnSpc>
                <a:spcPct val="136400"/>
              </a:lnSpc>
              <a:spcBef>
                <a:spcPts val="61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1" spc="-10" dirty="0">
                <a:solidFill>
                  <a:srgbClr val="454240"/>
                </a:solidFill>
                <a:latin typeface="Arial"/>
                <a:cs typeface="Arial"/>
              </a:rPr>
              <a:t>Flexible:</a:t>
            </a:r>
            <a:r>
              <a:rPr sz="1600" b="1" spc="105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Easily</a:t>
            </a:r>
            <a:r>
              <a:rPr sz="1600" spc="7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programmable</a:t>
            </a:r>
            <a:r>
              <a:rPr sz="1600" spc="7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54240"/>
                </a:solidFill>
                <a:latin typeface="Arial MT"/>
                <a:cs typeface="Arial MT"/>
              </a:rPr>
              <a:t>and </a:t>
            </a:r>
            <a:r>
              <a:rPr sz="1600" spc="-10" dirty="0">
                <a:solidFill>
                  <a:srgbClr val="454240"/>
                </a:solidFill>
                <a:latin typeface="Arial MT"/>
                <a:cs typeface="Arial MT"/>
              </a:rPr>
              <a:t>reconfigurable</a:t>
            </a:r>
            <a:endParaRPr sz="16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1" dirty="0">
                <a:solidFill>
                  <a:srgbClr val="454240"/>
                </a:solidFill>
                <a:latin typeface="Arial"/>
                <a:cs typeface="Arial"/>
              </a:rPr>
              <a:t>Fast</a:t>
            </a:r>
            <a:r>
              <a:rPr sz="1600" b="1" spc="-65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54240"/>
                </a:solidFill>
                <a:latin typeface="Arial"/>
                <a:cs typeface="Arial"/>
              </a:rPr>
              <a:t>Response:</a:t>
            </a:r>
            <a:r>
              <a:rPr sz="1600" b="1" spc="-30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spc="45" dirty="0">
                <a:solidFill>
                  <a:srgbClr val="454240"/>
                </a:solidFill>
                <a:latin typeface="Arial MT"/>
                <a:cs typeface="Arial MT"/>
              </a:rPr>
              <a:t>Hardware-</a:t>
            </a:r>
            <a:r>
              <a:rPr sz="1600" spc="-20" dirty="0">
                <a:solidFill>
                  <a:srgbClr val="454240"/>
                </a:solidFill>
                <a:latin typeface="Arial MT"/>
                <a:cs typeface="Arial MT"/>
              </a:rPr>
              <a:t>based</a:t>
            </a:r>
            <a:endParaRPr sz="1600">
              <a:latin typeface="Arial MT"/>
              <a:cs typeface="Arial MT"/>
            </a:endParaRPr>
          </a:p>
          <a:p>
            <a:pPr marL="356870">
              <a:lnSpc>
                <a:spcPct val="100000"/>
              </a:lnSpc>
              <a:spcBef>
                <a:spcPts val="700"/>
              </a:spcBef>
            </a:pP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logic</a:t>
            </a:r>
            <a:r>
              <a:rPr sz="1600" spc="14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ensures</a:t>
            </a:r>
            <a:r>
              <a:rPr sz="1600" spc="12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minimal</a:t>
            </a:r>
            <a:r>
              <a:rPr sz="1600" spc="18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45" dirty="0">
                <a:solidFill>
                  <a:srgbClr val="454240"/>
                </a:solidFill>
                <a:latin typeface="Arial MT"/>
                <a:cs typeface="Arial MT"/>
              </a:rPr>
              <a:t>latency</a:t>
            </a:r>
            <a:endParaRPr sz="1600">
              <a:latin typeface="Arial MT"/>
              <a:cs typeface="Arial MT"/>
            </a:endParaRPr>
          </a:p>
          <a:p>
            <a:pPr marL="356870" marR="292100" indent="-344805">
              <a:lnSpc>
                <a:spcPct val="136300"/>
              </a:lnSpc>
              <a:spcBef>
                <a:spcPts val="61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1" spc="-10" dirty="0">
                <a:solidFill>
                  <a:srgbClr val="454240"/>
                </a:solidFill>
                <a:latin typeface="Arial"/>
                <a:cs typeface="Arial"/>
              </a:rPr>
              <a:t>Scalable: </a:t>
            </a: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Can</a:t>
            </a:r>
            <a:r>
              <a:rPr sz="1600" spc="5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expand</a:t>
            </a:r>
            <a:r>
              <a:rPr sz="1600" spc="3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110" dirty="0">
                <a:solidFill>
                  <a:srgbClr val="454240"/>
                </a:solidFill>
                <a:latin typeface="Arial MT"/>
                <a:cs typeface="Arial MT"/>
              </a:rPr>
              <a:t>to</a:t>
            </a:r>
            <a:r>
              <a:rPr sz="1600" spc="7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85" dirty="0">
                <a:solidFill>
                  <a:srgbClr val="454240"/>
                </a:solidFill>
                <a:latin typeface="Arial MT"/>
                <a:cs typeface="Arial MT"/>
              </a:rPr>
              <a:t>multi- </a:t>
            </a: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floor</a:t>
            </a:r>
            <a:r>
              <a:rPr sz="1600" spc="20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454240"/>
                </a:solidFill>
                <a:latin typeface="Arial MT"/>
                <a:cs typeface="Arial MT"/>
              </a:rPr>
              <a:t>systems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2952" y="2882341"/>
            <a:ext cx="233362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latin typeface="Segoe UI Symbol"/>
                <a:cs typeface="Segoe UI Symbol"/>
              </a:rPr>
              <a:t>⚠</a:t>
            </a:r>
            <a:r>
              <a:rPr sz="2050" spc="10" dirty="0">
                <a:latin typeface="Segoe UI Symbol"/>
                <a:cs typeface="Segoe UI Symbol"/>
              </a:rPr>
              <a:t> </a:t>
            </a:r>
            <a:r>
              <a:rPr sz="2050" spc="170" dirty="0">
                <a:solidFill>
                  <a:srgbClr val="5C4E3C"/>
                </a:solidFill>
                <a:latin typeface="Cambria"/>
                <a:cs typeface="Cambria"/>
              </a:rPr>
              <a:t>Considerations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2952" y="3386150"/>
            <a:ext cx="3508375" cy="324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400685" indent="-344805">
              <a:lnSpc>
                <a:spcPct val="1363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1" spc="-20" dirty="0">
                <a:solidFill>
                  <a:srgbClr val="454240"/>
                </a:solidFill>
                <a:latin typeface="Arial"/>
                <a:cs typeface="Arial"/>
              </a:rPr>
              <a:t>Sensor</a:t>
            </a:r>
            <a:r>
              <a:rPr sz="1600" b="1" spc="-45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240"/>
                </a:solidFill>
                <a:latin typeface="Arial"/>
                <a:cs typeface="Arial"/>
              </a:rPr>
              <a:t>Calibration:</a:t>
            </a:r>
            <a:r>
              <a:rPr sz="1600" b="1" spc="-20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454240"/>
                </a:solidFill>
                <a:latin typeface="Arial MT"/>
                <a:cs typeface="Arial MT"/>
              </a:rPr>
              <a:t>Requires </a:t>
            </a:r>
            <a:r>
              <a:rPr sz="1600" spc="45" dirty="0">
                <a:solidFill>
                  <a:srgbClr val="454240"/>
                </a:solidFill>
                <a:latin typeface="Arial MT"/>
                <a:cs typeface="Arial MT"/>
              </a:rPr>
              <a:t>precise</a:t>
            </a:r>
            <a:r>
              <a:rPr sz="1600" spc="2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-150" dirty="0">
                <a:solidFill>
                  <a:srgbClr val="454240"/>
                </a:solidFill>
                <a:latin typeface="Arial MT"/>
                <a:cs typeface="Arial MT"/>
              </a:rPr>
              <a:t>IR</a:t>
            </a:r>
            <a:r>
              <a:rPr sz="1600" spc="3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sensor</a:t>
            </a:r>
            <a:r>
              <a:rPr sz="1600" spc="-10" dirty="0">
                <a:solidFill>
                  <a:srgbClr val="454240"/>
                </a:solidFill>
                <a:latin typeface="Arial MT"/>
                <a:cs typeface="Arial MT"/>
              </a:rPr>
              <a:t> tuning</a:t>
            </a:r>
            <a:endParaRPr sz="16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1" dirty="0">
                <a:solidFill>
                  <a:srgbClr val="454240"/>
                </a:solidFill>
                <a:latin typeface="Arial"/>
                <a:cs typeface="Arial"/>
              </a:rPr>
              <a:t>Memory</a:t>
            </a:r>
            <a:r>
              <a:rPr sz="1600" b="1" spc="55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240"/>
                </a:solidFill>
                <a:latin typeface="Arial"/>
                <a:cs typeface="Arial"/>
              </a:rPr>
              <a:t>Constraints:</a:t>
            </a:r>
            <a:r>
              <a:rPr sz="1600" b="1" spc="105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spc="45" dirty="0">
                <a:solidFill>
                  <a:srgbClr val="454240"/>
                </a:solidFill>
                <a:latin typeface="Arial MT"/>
                <a:cs typeface="Arial MT"/>
              </a:rPr>
              <a:t>Limited</a:t>
            </a:r>
            <a:endParaRPr sz="1600">
              <a:latin typeface="Arial MT"/>
              <a:cs typeface="Arial MT"/>
            </a:endParaRPr>
          </a:p>
          <a:p>
            <a:pPr marL="356870">
              <a:lnSpc>
                <a:spcPct val="100000"/>
              </a:lnSpc>
              <a:spcBef>
                <a:spcPts val="695"/>
              </a:spcBef>
            </a:pP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slots</a:t>
            </a:r>
            <a:r>
              <a:rPr sz="1600" spc="3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454240"/>
                </a:solidFill>
                <a:latin typeface="Arial MT"/>
                <a:cs typeface="Arial MT"/>
              </a:rPr>
              <a:t>per</a:t>
            </a:r>
            <a:r>
              <a:rPr sz="1600" spc="4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-75" dirty="0">
                <a:solidFill>
                  <a:srgbClr val="454240"/>
                </a:solidFill>
                <a:latin typeface="Arial MT"/>
                <a:cs typeface="Arial MT"/>
              </a:rPr>
              <a:t>FPGA</a:t>
            </a:r>
            <a:r>
              <a:rPr sz="1600" spc="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55" dirty="0">
                <a:solidFill>
                  <a:srgbClr val="454240"/>
                </a:solidFill>
                <a:latin typeface="Arial MT"/>
                <a:cs typeface="Arial MT"/>
              </a:rPr>
              <a:t>capacity</a:t>
            </a:r>
            <a:endParaRPr sz="1600">
              <a:latin typeface="Arial MT"/>
              <a:cs typeface="Arial MT"/>
            </a:endParaRPr>
          </a:p>
          <a:p>
            <a:pPr marL="356870" marR="5080" indent="-344805">
              <a:lnSpc>
                <a:spcPct val="136400"/>
              </a:lnSpc>
              <a:spcBef>
                <a:spcPts val="61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1" dirty="0">
                <a:solidFill>
                  <a:srgbClr val="454240"/>
                </a:solidFill>
                <a:latin typeface="Arial"/>
                <a:cs typeface="Arial"/>
              </a:rPr>
              <a:t>Environmental</a:t>
            </a:r>
            <a:r>
              <a:rPr sz="1600" b="1" spc="-135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240"/>
                </a:solidFill>
                <a:latin typeface="Arial"/>
                <a:cs typeface="Arial"/>
              </a:rPr>
              <a:t>Factors:</a:t>
            </a:r>
            <a:r>
              <a:rPr sz="1600" b="1" spc="20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454240"/>
                </a:solidFill>
                <a:latin typeface="Arial MT"/>
                <a:cs typeface="Arial MT"/>
              </a:rPr>
              <a:t>Weather </a:t>
            </a: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may</a:t>
            </a:r>
            <a:r>
              <a:rPr sz="1600" spc="9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454240"/>
                </a:solidFill>
                <a:latin typeface="Arial MT"/>
                <a:cs typeface="Arial MT"/>
              </a:rPr>
              <a:t>affect</a:t>
            </a:r>
            <a:r>
              <a:rPr sz="1600" spc="10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54240"/>
                </a:solidFill>
                <a:latin typeface="Arial MT"/>
                <a:cs typeface="Arial MT"/>
              </a:rPr>
              <a:t>sensor</a:t>
            </a:r>
            <a:r>
              <a:rPr sz="1600" spc="3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454240"/>
                </a:solidFill>
                <a:latin typeface="Arial MT"/>
                <a:cs typeface="Arial MT"/>
              </a:rPr>
              <a:t>accuracy</a:t>
            </a:r>
            <a:endParaRPr sz="1600">
              <a:latin typeface="Arial MT"/>
              <a:cs typeface="Arial MT"/>
            </a:endParaRPr>
          </a:p>
          <a:p>
            <a:pPr marL="356870" marR="5080" indent="-344805">
              <a:lnSpc>
                <a:spcPct val="135700"/>
              </a:lnSpc>
              <a:spcBef>
                <a:spcPts val="62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1" dirty="0">
                <a:solidFill>
                  <a:srgbClr val="454240"/>
                </a:solidFill>
                <a:latin typeface="Arial"/>
                <a:cs typeface="Arial"/>
              </a:rPr>
              <a:t>Integration</a:t>
            </a:r>
            <a:r>
              <a:rPr sz="1600" b="1" spc="90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240"/>
                </a:solidFill>
                <a:latin typeface="Arial"/>
                <a:cs typeface="Arial"/>
              </a:rPr>
              <a:t>Complexity:</a:t>
            </a:r>
            <a:r>
              <a:rPr sz="1600" b="1" spc="235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600" spc="40" dirty="0">
                <a:solidFill>
                  <a:srgbClr val="454240"/>
                </a:solidFill>
                <a:latin typeface="Arial MT"/>
                <a:cs typeface="Arial MT"/>
              </a:rPr>
              <a:t>Multiple </a:t>
            </a:r>
            <a:r>
              <a:rPr sz="1600" spc="60" dirty="0">
                <a:solidFill>
                  <a:srgbClr val="454240"/>
                </a:solidFill>
                <a:latin typeface="Arial MT"/>
                <a:cs typeface="Arial MT"/>
              </a:rPr>
              <a:t>system</a:t>
            </a:r>
            <a:r>
              <a:rPr sz="1600" spc="-5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65" dirty="0">
                <a:solidFill>
                  <a:srgbClr val="454240"/>
                </a:solidFill>
                <a:latin typeface="Arial MT"/>
                <a:cs typeface="Arial MT"/>
              </a:rPr>
              <a:t>components</a:t>
            </a:r>
            <a:r>
              <a:rPr sz="1600" spc="-3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54240"/>
                </a:solidFill>
                <a:latin typeface="Arial MT"/>
                <a:cs typeface="Arial MT"/>
              </a:rPr>
              <a:t>require </a:t>
            </a:r>
            <a:r>
              <a:rPr sz="1600" spc="50" dirty="0">
                <a:solidFill>
                  <a:srgbClr val="454240"/>
                </a:solidFill>
                <a:latin typeface="Arial MT"/>
                <a:cs typeface="Arial MT"/>
              </a:rPr>
              <a:t>testing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91763" y="7726127"/>
            <a:ext cx="1871980" cy="473709"/>
            <a:chOff x="12691763" y="7726127"/>
            <a:chExt cx="1871980" cy="473709"/>
          </a:xfrm>
        </p:grpSpPr>
        <p:sp>
          <p:nvSpPr>
            <p:cNvPr id="3" name="object 3"/>
            <p:cNvSpPr/>
            <p:nvPr/>
          </p:nvSpPr>
          <p:spPr>
            <a:xfrm>
              <a:off x="12699999" y="7734364"/>
              <a:ext cx="1826895" cy="457200"/>
            </a:xfrm>
            <a:custGeom>
              <a:avLst/>
              <a:gdLst/>
              <a:ahLst/>
              <a:cxnLst/>
              <a:rect l="l" t="t" r="r" b="b"/>
              <a:pathLst>
                <a:path w="1826894" h="457200">
                  <a:moveTo>
                    <a:pt x="1826483" y="0"/>
                  </a:moveTo>
                  <a:lnTo>
                    <a:pt x="0" y="0"/>
                  </a:lnTo>
                  <a:lnTo>
                    <a:pt x="0" y="457135"/>
                  </a:lnTo>
                  <a:lnTo>
                    <a:pt x="1826483" y="457135"/>
                  </a:lnTo>
                  <a:lnTo>
                    <a:pt x="1826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699999" y="7734364"/>
              <a:ext cx="1826895" cy="457200"/>
            </a:xfrm>
            <a:custGeom>
              <a:avLst/>
              <a:gdLst/>
              <a:ahLst/>
              <a:cxnLst/>
              <a:rect l="l" t="t" r="r" b="b"/>
              <a:pathLst>
                <a:path w="1826894" h="457200">
                  <a:moveTo>
                    <a:pt x="0" y="457135"/>
                  </a:moveTo>
                  <a:lnTo>
                    <a:pt x="1826483" y="457135"/>
                  </a:lnTo>
                  <a:lnTo>
                    <a:pt x="1826483" y="0"/>
                  </a:lnTo>
                  <a:lnTo>
                    <a:pt x="0" y="0"/>
                  </a:lnTo>
                  <a:lnTo>
                    <a:pt x="0" y="457135"/>
                  </a:lnTo>
                  <a:close/>
                </a:path>
              </a:pathLst>
            </a:custGeom>
            <a:ln w="1647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1304" y="1819732"/>
            <a:ext cx="10533380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480" dirty="0"/>
              <a:t>System</a:t>
            </a:r>
            <a:r>
              <a:rPr spc="355" dirty="0"/>
              <a:t> </a:t>
            </a:r>
            <a:r>
              <a:rPr spc="455" dirty="0"/>
              <a:t>Performance</a:t>
            </a:r>
            <a:r>
              <a:rPr spc="415" dirty="0"/>
              <a:t> </a:t>
            </a:r>
            <a:r>
              <a:rPr spc="825" dirty="0"/>
              <a:t>&amp;</a:t>
            </a:r>
            <a:r>
              <a:rPr spc="310" dirty="0"/>
              <a:t> </a:t>
            </a:r>
            <a:r>
              <a:rPr spc="360" dirty="0"/>
              <a:t>Applications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31849" y="2943555"/>
            <a:ext cx="3678554" cy="2419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5"/>
              </a:spcBef>
            </a:pPr>
            <a:r>
              <a:rPr sz="5850" spc="409" dirty="0">
                <a:solidFill>
                  <a:srgbClr val="454240"/>
                </a:solidFill>
                <a:latin typeface="Cambria"/>
                <a:cs typeface="Cambria"/>
              </a:rPr>
              <a:t>&lt;5ms</a:t>
            </a:r>
            <a:endParaRPr sz="5850">
              <a:latin typeface="Cambria"/>
              <a:cs typeface="Cambria"/>
            </a:endParaRPr>
          </a:p>
          <a:p>
            <a:pPr marL="1270" algn="ctr">
              <a:lnSpc>
                <a:spcPct val="100000"/>
              </a:lnSpc>
              <a:spcBef>
                <a:spcPts val="2455"/>
              </a:spcBef>
            </a:pPr>
            <a:r>
              <a:rPr sz="2200" spc="210" dirty="0">
                <a:solidFill>
                  <a:srgbClr val="454240"/>
                </a:solidFill>
                <a:latin typeface="Cambria"/>
                <a:cs typeface="Cambria"/>
              </a:rPr>
              <a:t>Detection</a:t>
            </a:r>
            <a:r>
              <a:rPr sz="2200" spc="170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2200" spc="220" dirty="0">
                <a:solidFill>
                  <a:srgbClr val="454240"/>
                </a:solidFill>
                <a:latin typeface="Cambria"/>
                <a:cs typeface="Cambria"/>
              </a:rPr>
              <a:t>Latency</a:t>
            </a:r>
            <a:endParaRPr sz="2200">
              <a:latin typeface="Cambria"/>
              <a:cs typeface="Cambria"/>
            </a:endParaRPr>
          </a:p>
          <a:p>
            <a:pPr marL="12065" marR="5080" algn="ctr">
              <a:lnSpc>
                <a:spcPct val="137100"/>
              </a:lnSpc>
              <a:spcBef>
                <a:spcPts val="965"/>
              </a:spcBef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Hardware</a:t>
            </a:r>
            <a:r>
              <a:rPr sz="1750" spc="5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response</a:t>
            </a:r>
            <a:r>
              <a:rPr sz="1750" spc="5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75" dirty="0">
                <a:solidFill>
                  <a:srgbClr val="454240"/>
                </a:solidFill>
                <a:latin typeface="Arial MT"/>
                <a:cs typeface="Arial MT"/>
              </a:rPr>
              <a:t>time</a:t>
            </a:r>
            <a:r>
              <a:rPr sz="1750" spc="11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454240"/>
                </a:solidFill>
                <a:latin typeface="Arial MT"/>
                <a:cs typeface="Arial MT"/>
              </a:rPr>
              <a:t>for</a:t>
            </a:r>
            <a:r>
              <a:rPr sz="1750" spc="10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vehicle sensing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96890" y="2943555"/>
            <a:ext cx="3437254" cy="2053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5"/>
              </a:spcBef>
            </a:pPr>
            <a:r>
              <a:rPr sz="5850" spc="-25" dirty="0">
                <a:solidFill>
                  <a:srgbClr val="454240"/>
                </a:solidFill>
                <a:latin typeface="Cambria"/>
                <a:cs typeface="Cambria"/>
              </a:rPr>
              <a:t>99%</a:t>
            </a:r>
            <a:endParaRPr sz="5850">
              <a:latin typeface="Cambria"/>
              <a:cs typeface="Cambria"/>
            </a:endParaRPr>
          </a:p>
          <a:p>
            <a:pPr marL="1270" algn="ctr">
              <a:lnSpc>
                <a:spcPct val="100000"/>
              </a:lnSpc>
              <a:spcBef>
                <a:spcPts val="2455"/>
              </a:spcBef>
            </a:pPr>
            <a:r>
              <a:rPr sz="2200" spc="170" dirty="0">
                <a:solidFill>
                  <a:srgbClr val="454240"/>
                </a:solidFill>
                <a:latin typeface="Cambria"/>
                <a:cs typeface="Cambria"/>
              </a:rPr>
              <a:t>Availability</a:t>
            </a:r>
            <a:r>
              <a:rPr sz="2200" spc="130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2200" spc="204" dirty="0">
                <a:solidFill>
                  <a:srgbClr val="454240"/>
                </a:solidFill>
                <a:latin typeface="Cambria"/>
                <a:cs typeface="Cambria"/>
              </a:rPr>
              <a:t>Accuracy</a:t>
            </a:r>
            <a:endParaRPr sz="2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Real-</a:t>
            </a:r>
            <a:r>
              <a:rPr sz="1750" spc="75" dirty="0">
                <a:solidFill>
                  <a:srgbClr val="454240"/>
                </a:solidFill>
                <a:latin typeface="Arial MT"/>
                <a:cs typeface="Arial MT"/>
              </a:rPr>
              <a:t>time</a:t>
            </a:r>
            <a:r>
              <a:rPr sz="1750" spc="1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454240"/>
                </a:solidFill>
                <a:latin typeface="Arial MT"/>
                <a:cs typeface="Arial MT"/>
              </a:rPr>
              <a:t>slot</a:t>
            </a:r>
            <a:r>
              <a:rPr sz="1750" spc="2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50" dirty="0">
                <a:solidFill>
                  <a:srgbClr val="454240"/>
                </a:solidFill>
                <a:latin typeface="Arial MT"/>
                <a:cs typeface="Arial MT"/>
              </a:rPr>
              <a:t>counting</a:t>
            </a:r>
            <a:r>
              <a:rPr sz="1750" spc="-3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40" dirty="0">
                <a:solidFill>
                  <a:srgbClr val="454240"/>
                </a:solidFill>
                <a:latin typeface="Arial MT"/>
                <a:cs typeface="Arial MT"/>
              </a:rPr>
              <a:t>precision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83826" y="2943555"/>
            <a:ext cx="3943985" cy="2053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5"/>
              </a:spcBef>
            </a:pPr>
            <a:r>
              <a:rPr sz="5850" spc="520" dirty="0">
                <a:solidFill>
                  <a:srgbClr val="454240"/>
                </a:solidFill>
                <a:latin typeface="Cambria"/>
                <a:cs typeface="Cambria"/>
              </a:rPr>
              <a:t>8-</a:t>
            </a:r>
            <a:r>
              <a:rPr sz="5850" spc="320" dirty="0">
                <a:solidFill>
                  <a:srgbClr val="454240"/>
                </a:solidFill>
                <a:latin typeface="Cambria"/>
                <a:cs typeface="Cambria"/>
              </a:rPr>
              <a:t>32</a:t>
            </a:r>
            <a:endParaRPr sz="5850">
              <a:latin typeface="Cambria"/>
              <a:cs typeface="Cambria"/>
            </a:endParaRPr>
          </a:p>
          <a:p>
            <a:pPr marL="3810" algn="ctr">
              <a:lnSpc>
                <a:spcPct val="100000"/>
              </a:lnSpc>
              <a:spcBef>
                <a:spcPts val="2455"/>
              </a:spcBef>
            </a:pPr>
            <a:r>
              <a:rPr sz="2200" spc="180" dirty="0">
                <a:solidFill>
                  <a:srgbClr val="454240"/>
                </a:solidFill>
                <a:latin typeface="Cambria"/>
                <a:cs typeface="Cambria"/>
              </a:rPr>
              <a:t>Scalable</a:t>
            </a:r>
            <a:r>
              <a:rPr sz="2200" spc="170" dirty="0">
                <a:solidFill>
                  <a:srgbClr val="454240"/>
                </a:solidFill>
                <a:latin typeface="Cambria"/>
                <a:cs typeface="Cambria"/>
              </a:rPr>
              <a:t> </a:t>
            </a:r>
            <a:r>
              <a:rPr sz="2200" spc="155" dirty="0">
                <a:solidFill>
                  <a:srgbClr val="454240"/>
                </a:solidFill>
                <a:latin typeface="Cambria"/>
                <a:cs typeface="Cambria"/>
              </a:rPr>
              <a:t>Slots</a:t>
            </a:r>
            <a:endParaRPr sz="2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Expandable</a:t>
            </a:r>
            <a:r>
              <a:rPr sz="1750" spc="6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parking</a:t>
            </a:r>
            <a:r>
              <a:rPr sz="1750" spc="4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75" dirty="0">
                <a:solidFill>
                  <a:srgbClr val="454240"/>
                </a:solidFill>
                <a:latin typeface="Arial MT"/>
                <a:cs typeface="Arial MT"/>
              </a:rPr>
              <a:t>capacity</a:t>
            </a:r>
            <a:r>
              <a:rPr sz="1750" spc="60" dirty="0">
                <a:solidFill>
                  <a:srgbClr val="454240"/>
                </a:solidFill>
                <a:latin typeface="Arial MT"/>
                <a:cs typeface="Arial MT"/>
              </a:rPr>
              <a:t> per</a:t>
            </a:r>
            <a:r>
              <a:rPr sz="1750" spc="6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454240"/>
                </a:solidFill>
                <a:latin typeface="Arial MT"/>
                <a:cs typeface="Arial MT"/>
              </a:rPr>
              <a:t>zone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304" y="5586147"/>
            <a:ext cx="12824460" cy="75819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750" b="1" dirty="0">
                <a:solidFill>
                  <a:srgbClr val="454240"/>
                </a:solidFill>
                <a:latin typeface="Arial"/>
                <a:cs typeface="Arial"/>
              </a:rPr>
              <a:t>Applications:</a:t>
            </a:r>
            <a:r>
              <a:rPr sz="1750" b="1" spc="170" dirty="0">
                <a:solidFill>
                  <a:srgbClr val="454240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Commercial</a:t>
            </a:r>
            <a:r>
              <a:rPr sz="1750" spc="12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parking</a:t>
            </a:r>
            <a:r>
              <a:rPr sz="1750" spc="114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lots,</a:t>
            </a:r>
            <a:r>
              <a:rPr sz="1750" spc="15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5" dirty="0">
                <a:solidFill>
                  <a:srgbClr val="454240"/>
                </a:solidFill>
                <a:latin typeface="Arial MT"/>
                <a:cs typeface="Arial MT"/>
              </a:rPr>
              <a:t>airport</a:t>
            </a:r>
            <a:r>
              <a:rPr sz="1750" spc="14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facilities,</a:t>
            </a:r>
            <a:r>
              <a:rPr sz="1750" spc="15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454240"/>
                </a:solidFill>
                <a:latin typeface="Arial MT"/>
                <a:cs typeface="Arial MT"/>
              </a:rPr>
              <a:t>smart</a:t>
            </a:r>
            <a:r>
              <a:rPr sz="1750" spc="11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105" dirty="0">
                <a:solidFill>
                  <a:srgbClr val="454240"/>
                </a:solidFill>
                <a:latin typeface="Arial MT"/>
                <a:cs typeface="Arial MT"/>
              </a:rPr>
              <a:t>city</a:t>
            </a:r>
            <a:r>
              <a:rPr sz="1750" spc="17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infrastructure,</a:t>
            </a:r>
            <a:r>
              <a:rPr sz="1750" spc="5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shopping</a:t>
            </a:r>
            <a:r>
              <a:rPr sz="1750" spc="12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complexes,</a:t>
            </a:r>
            <a:r>
              <a:rPr sz="1750" spc="15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70" dirty="0">
                <a:solidFill>
                  <a:srgbClr val="454240"/>
                </a:solidFill>
                <a:latin typeface="Arial MT"/>
                <a:cs typeface="Arial MT"/>
              </a:rPr>
              <a:t>corporate</a:t>
            </a:r>
            <a:r>
              <a:rPr sz="1750" spc="13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454240"/>
                </a:solidFill>
                <a:latin typeface="Arial MT"/>
                <a:cs typeface="Arial MT"/>
              </a:rPr>
              <a:t>campuses,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750" spc="95" dirty="0">
                <a:solidFill>
                  <a:srgbClr val="454240"/>
                </a:solidFill>
                <a:latin typeface="Arial MT"/>
                <a:cs typeface="Arial MT"/>
              </a:rPr>
              <a:t>multi-</a:t>
            </a:r>
            <a:r>
              <a:rPr sz="1750" spc="80" dirty="0">
                <a:solidFill>
                  <a:srgbClr val="454240"/>
                </a:solidFill>
                <a:latin typeface="Arial MT"/>
                <a:cs typeface="Arial MT"/>
              </a:rPr>
              <a:t>story</a:t>
            </a:r>
            <a:r>
              <a:rPr sz="1750" spc="90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454240"/>
                </a:solidFill>
                <a:latin typeface="Arial MT"/>
                <a:cs typeface="Arial MT"/>
              </a:rPr>
              <a:t>parking</a:t>
            </a:r>
            <a:r>
              <a:rPr sz="1750" spc="45" dirty="0">
                <a:solidFill>
                  <a:srgbClr val="454240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454240"/>
                </a:solidFill>
                <a:latin typeface="Arial MT"/>
                <a:cs typeface="Arial MT"/>
              </a:rPr>
              <a:t>structures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395" dirty="0"/>
              <a:t>References</a:t>
            </a:r>
            <a:r>
              <a:rPr spc="385" dirty="0"/>
              <a:t> </a:t>
            </a:r>
            <a:r>
              <a:rPr spc="825" dirty="0"/>
              <a:t>&amp;</a:t>
            </a:r>
            <a:r>
              <a:rPr spc="300" dirty="0"/>
              <a:t> </a:t>
            </a:r>
            <a:r>
              <a:rPr spc="459" dirty="0"/>
              <a:t>Conclusion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268973" y="2507851"/>
            <a:ext cx="7154544" cy="1574149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75"/>
              </a:spcBef>
              <a:buChar char="•"/>
              <a:tabLst>
                <a:tab pos="356870" algn="l"/>
              </a:tabLst>
            </a:pPr>
            <a:r>
              <a:rPr spc="-130" dirty="0"/>
              <a:t>[1]</a:t>
            </a:r>
            <a:r>
              <a:rPr spc="35" dirty="0"/>
              <a:t> </a:t>
            </a:r>
            <a:r>
              <a:rPr spc="-160" dirty="0"/>
              <a:t>IEEE:</a:t>
            </a:r>
            <a:r>
              <a:rPr spc="25" dirty="0"/>
              <a:t> </a:t>
            </a:r>
            <a:r>
              <a:rPr dirty="0"/>
              <a:t>"Smart</a:t>
            </a:r>
            <a:r>
              <a:rPr spc="15" dirty="0"/>
              <a:t> </a:t>
            </a:r>
            <a:r>
              <a:rPr spc="-10" dirty="0"/>
              <a:t>Parking</a:t>
            </a:r>
            <a:r>
              <a:rPr spc="-15" dirty="0"/>
              <a:t> </a:t>
            </a:r>
            <a:r>
              <a:rPr dirty="0"/>
              <a:t>System</a:t>
            </a:r>
            <a:r>
              <a:rPr spc="15" dirty="0"/>
              <a:t> </a:t>
            </a:r>
            <a:r>
              <a:rPr spc="-10" dirty="0"/>
              <a:t>Using </a:t>
            </a:r>
            <a:r>
              <a:rPr spc="-85" dirty="0"/>
              <a:t>FPGA</a:t>
            </a:r>
            <a:r>
              <a:rPr spc="3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dirty="0"/>
              <a:t>Verilog</a:t>
            </a:r>
            <a:r>
              <a:rPr spc="15" dirty="0"/>
              <a:t> </a:t>
            </a:r>
            <a:r>
              <a:rPr spc="-100" dirty="0"/>
              <a:t>HDL,"</a:t>
            </a:r>
            <a:r>
              <a:rPr spc="5" dirty="0"/>
              <a:t> </a:t>
            </a:r>
            <a:r>
              <a:rPr spc="-20" dirty="0"/>
              <a:t>IEEE</a:t>
            </a:r>
          </a:p>
          <a:p>
            <a:pPr marL="356870">
              <a:lnSpc>
                <a:spcPct val="100000"/>
              </a:lnSpc>
              <a:spcBef>
                <a:spcPts val="780"/>
              </a:spcBef>
            </a:pPr>
            <a:r>
              <a:rPr dirty="0"/>
              <a:t>Xplore,</a:t>
            </a:r>
            <a:r>
              <a:rPr spc="-100" dirty="0"/>
              <a:t> </a:t>
            </a:r>
            <a:r>
              <a:rPr spc="65" dirty="0"/>
              <a:t>2023</a:t>
            </a:r>
          </a:p>
          <a:p>
            <a:pPr marL="356870" indent="-344170">
              <a:lnSpc>
                <a:spcPct val="100000"/>
              </a:lnSpc>
              <a:spcBef>
                <a:spcPts val="1360"/>
              </a:spcBef>
              <a:buChar char="•"/>
              <a:tabLst>
                <a:tab pos="356870" algn="l"/>
              </a:tabLst>
            </a:pPr>
            <a:r>
              <a:rPr dirty="0"/>
              <a:t>[2]</a:t>
            </a:r>
            <a:r>
              <a:rPr spc="25" dirty="0"/>
              <a:t> </a:t>
            </a:r>
            <a:r>
              <a:rPr spc="-165" dirty="0"/>
              <a:t>IEEE:</a:t>
            </a:r>
            <a:r>
              <a:rPr spc="20" dirty="0"/>
              <a:t> </a:t>
            </a:r>
            <a:r>
              <a:rPr dirty="0"/>
              <a:t>"IoT-</a:t>
            </a:r>
            <a:r>
              <a:rPr spc="50" dirty="0"/>
              <a:t>based</a:t>
            </a:r>
            <a:r>
              <a:rPr spc="-40" dirty="0"/>
              <a:t> </a:t>
            </a:r>
            <a:r>
              <a:rPr dirty="0"/>
              <a:t>Smart Parking</a:t>
            </a:r>
            <a:r>
              <a:rPr spc="10" dirty="0"/>
              <a:t> </a:t>
            </a:r>
            <a:r>
              <a:rPr spc="65" dirty="0"/>
              <a:t>Architecture</a:t>
            </a:r>
            <a:r>
              <a:rPr spc="-30" dirty="0"/>
              <a:t> </a:t>
            </a:r>
            <a:r>
              <a:rPr spc="55" dirty="0"/>
              <a:t>for</a:t>
            </a:r>
            <a:r>
              <a:rPr spc="15" dirty="0"/>
              <a:t> </a:t>
            </a:r>
            <a:r>
              <a:rPr spc="-10" dirty="0"/>
              <a:t>Urban</a:t>
            </a:r>
          </a:p>
          <a:p>
            <a:pPr marL="356870">
              <a:lnSpc>
                <a:spcPct val="100000"/>
              </a:lnSpc>
              <a:spcBef>
                <a:spcPts val="785"/>
              </a:spcBef>
            </a:pPr>
            <a:r>
              <a:rPr dirty="0"/>
              <a:t>Management,"</a:t>
            </a:r>
            <a:r>
              <a:rPr spc="-35" dirty="0"/>
              <a:t> </a:t>
            </a:r>
            <a:r>
              <a:rPr spc="-165" dirty="0"/>
              <a:t>IEEE</a:t>
            </a:r>
            <a:r>
              <a:rPr spc="30" dirty="0"/>
              <a:t> </a:t>
            </a:r>
            <a:r>
              <a:rPr dirty="0"/>
              <a:t>Access,</a:t>
            </a:r>
            <a:r>
              <a:rPr spc="-40" dirty="0"/>
              <a:t> </a:t>
            </a:r>
            <a:r>
              <a:rPr spc="50" dirty="0"/>
              <a:t>2022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2818763" y="7698323"/>
            <a:ext cx="1729739" cy="463550"/>
            <a:chOff x="12818763" y="7698323"/>
            <a:chExt cx="1729739" cy="463550"/>
          </a:xfrm>
        </p:grpSpPr>
        <p:sp>
          <p:nvSpPr>
            <p:cNvPr id="6" name="object 6"/>
            <p:cNvSpPr/>
            <p:nvPr/>
          </p:nvSpPr>
          <p:spPr>
            <a:xfrm>
              <a:off x="12826999" y="7706560"/>
              <a:ext cx="1713230" cy="447040"/>
            </a:xfrm>
            <a:custGeom>
              <a:avLst/>
              <a:gdLst/>
              <a:ahLst/>
              <a:cxnLst/>
              <a:rect l="l" t="t" r="r" b="b"/>
              <a:pathLst>
                <a:path w="1713230" h="447040">
                  <a:moveTo>
                    <a:pt x="1713229" y="0"/>
                  </a:moveTo>
                  <a:lnTo>
                    <a:pt x="0" y="0"/>
                  </a:lnTo>
                  <a:lnTo>
                    <a:pt x="0" y="446839"/>
                  </a:lnTo>
                  <a:lnTo>
                    <a:pt x="1713229" y="446839"/>
                  </a:lnTo>
                  <a:lnTo>
                    <a:pt x="17132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826999" y="7706560"/>
              <a:ext cx="1713230" cy="447040"/>
            </a:xfrm>
            <a:custGeom>
              <a:avLst/>
              <a:gdLst/>
              <a:ahLst/>
              <a:cxnLst/>
              <a:rect l="l" t="t" r="r" b="b"/>
              <a:pathLst>
                <a:path w="1713230" h="447040">
                  <a:moveTo>
                    <a:pt x="0" y="446839"/>
                  </a:moveTo>
                  <a:lnTo>
                    <a:pt x="1713229" y="446839"/>
                  </a:lnTo>
                  <a:lnTo>
                    <a:pt x="1713229" y="0"/>
                  </a:lnTo>
                  <a:lnTo>
                    <a:pt x="0" y="0"/>
                  </a:lnTo>
                  <a:lnTo>
                    <a:pt x="0" y="446839"/>
                  </a:lnTo>
                  <a:close/>
                </a:path>
              </a:pathLst>
            </a:custGeom>
            <a:ln w="1647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38EF9-BA7B-9F4F-698F-C80CD2523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2B566B8-03F2-42DE-6601-9A2B8E5753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59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B4B50135-066B-8012-8D27-76886A25F8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300" dirty="0"/>
              <a:t> </a:t>
            </a:r>
            <a:r>
              <a:rPr spc="459" dirty="0"/>
              <a:t>Conclusion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37C9DA9-1C55-8873-A704-5011E3963F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68973" y="2507851"/>
            <a:ext cx="7154544" cy="2137636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360"/>
              </a:spcBef>
              <a:buChar char="•"/>
              <a:tabLst>
                <a:tab pos="356870" algn="l"/>
              </a:tabLst>
            </a:pPr>
            <a:r>
              <a:rPr lang="en-US" dirty="0"/>
              <a:t>[3]</a:t>
            </a:r>
            <a:r>
              <a:rPr lang="en-US" spc="170" dirty="0"/>
              <a:t> </a:t>
            </a:r>
            <a:r>
              <a:rPr lang="en-US" spc="90" dirty="0"/>
              <a:t>Open-</a:t>
            </a:r>
            <a:r>
              <a:rPr lang="en-US" dirty="0"/>
              <a:t>source</a:t>
            </a:r>
            <a:r>
              <a:rPr lang="en-US" spc="100" dirty="0"/>
              <a:t> </a:t>
            </a:r>
            <a:r>
              <a:rPr lang="en-US" dirty="0"/>
              <a:t>Verilog</a:t>
            </a:r>
            <a:r>
              <a:rPr lang="en-US" spc="140" dirty="0"/>
              <a:t> </a:t>
            </a:r>
            <a:r>
              <a:rPr lang="en-US" spc="75" dirty="0"/>
              <a:t>projects</a:t>
            </a:r>
            <a:r>
              <a:rPr lang="en-US" spc="135" dirty="0"/>
              <a:t> </a:t>
            </a:r>
            <a:r>
              <a:rPr lang="en-US" dirty="0"/>
              <a:t>and</a:t>
            </a:r>
            <a:r>
              <a:rPr lang="en-US" spc="130" dirty="0"/>
              <a:t> </a:t>
            </a:r>
            <a:r>
              <a:rPr lang="en-US" dirty="0" err="1"/>
              <a:t>ModelSim</a:t>
            </a:r>
            <a:r>
              <a:rPr lang="en-US" spc="170" dirty="0"/>
              <a:t> </a:t>
            </a:r>
            <a:r>
              <a:rPr lang="en-US" dirty="0"/>
              <a:t>simulation</a:t>
            </a:r>
            <a:r>
              <a:rPr lang="en-US" spc="120" dirty="0"/>
              <a:t> </a:t>
            </a:r>
            <a:r>
              <a:rPr lang="en-US" spc="-10" dirty="0"/>
              <a:t>results</a:t>
            </a:r>
          </a:p>
          <a:p>
            <a:pPr marL="12700" marR="125095">
              <a:lnSpc>
                <a:spcPct val="137800"/>
              </a:lnSpc>
              <a:spcBef>
                <a:spcPts val="1970"/>
              </a:spcBef>
            </a:pPr>
            <a:r>
              <a:rPr lang="en-US" b="1" spc="10" dirty="0">
                <a:latin typeface="Arial"/>
                <a:cs typeface="Arial"/>
              </a:rPr>
              <a:t>Project</a:t>
            </a:r>
            <a:r>
              <a:rPr lang="en-US" b="1" spc="30" dirty="0">
                <a:latin typeface="Arial"/>
                <a:cs typeface="Arial"/>
              </a:rPr>
              <a:t> </a:t>
            </a:r>
            <a:r>
              <a:rPr lang="en-US" b="1" spc="10" dirty="0">
                <a:latin typeface="Arial"/>
                <a:cs typeface="Arial"/>
              </a:rPr>
              <a:t>contributes</a:t>
            </a:r>
            <a:r>
              <a:rPr lang="en-US" b="1" spc="45" dirty="0">
                <a:latin typeface="Arial"/>
                <a:cs typeface="Arial"/>
              </a:rPr>
              <a:t> </a:t>
            </a:r>
            <a:r>
              <a:rPr lang="en-US" b="1" spc="65" dirty="0">
                <a:latin typeface="Arial"/>
                <a:cs typeface="Arial"/>
              </a:rPr>
              <a:t>to</a:t>
            </a:r>
            <a:r>
              <a:rPr lang="en-US" b="1" spc="50" dirty="0">
                <a:latin typeface="Arial"/>
                <a:cs typeface="Arial"/>
              </a:rPr>
              <a:t> </a:t>
            </a:r>
            <a:r>
              <a:rPr lang="en-US" b="1" spc="10" dirty="0">
                <a:latin typeface="Arial"/>
                <a:cs typeface="Arial"/>
              </a:rPr>
              <a:t>intelligent</a:t>
            </a:r>
            <a:r>
              <a:rPr lang="en-US" b="1" spc="60" dirty="0">
                <a:latin typeface="Arial"/>
                <a:cs typeface="Arial"/>
              </a:rPr>
              <a:t> </a:t>
            </a:r>
            <a:r>
              <a:rPr lang="en-US" b="1" spc="10" dirty="0">
                <a:latin typeface="Arial"/>
                <a:cs typeface="Arial"/>
              </a:rPr>
              <a:t>transportation</a:t>
            </a:r>
            <a:r>
              <a:rPr lang="en-US" b="1" spc="35" dirty="0">
                <a:latin typeface="Arial"/>
                <a:cs typeface="Arial"/>
              </a:rPr>
              <a:t> </a:t>
            </a:r>
            <a:r>
              <a:rPr lang="en-US" b="1" spc="10" dirty="0">
                <a:latin typeface="Arial"/>
                <a:cs typeface="Arial"/>
              </a:rPr>
              <a:t>systems</a:t>
            </a:r>
            <a:r>
              <a:rPr lang="en-US" b="1" spc="75" dirty="0">
                <a:latin typeface="Arial"/>
                <a:cs typeface="Arial"/>
              </a:rPr>
              <a:t> </a:t>
            </a:r>
            <a:r>
              <a:rPr lang="en-US" b="1" spc="-10" dirty="0">
                <a:latin typeface="Arial"/>
                <a:cs typeface="Arial"/>
              </a:rPr>
              <a:t>through </a:t>
            </a:r>
            <a:r>
              <a:rPr lang="en-US" b="1" spc="60" dirty="0">
                <a:latin typeface="Arial"/>
                <a:cs typeface="Arial"/>
              </a:rPr>
              <a:t>hardware-</a:t>
            </a:r>
            <a:r>
              <a:rPr lang="en-US" b="1" dirty="0">
                <a:latin typeface="Arial"/>
                <a:cs typeface="Arial"/>
              </a:rPr>
              <a:t>software</a:t>
            </a:r>
            <a:r>
              <a:rPr lang="en-US" b="1" spc="25" dirty="0">
                <a:latin typeface="Arial"/>
                <a:cs typeface="Arial"/>
              </a:rPr>
              <a:t> </a:t>
            </a:r>
            <a:r>
              <a:rPr lang="en-US" b="1" spc="125" dirty="0">
                <a:latin typeface="Arial"/>
                <a:cs typeface="Arial"/>
              </a:rPr>
              <a:t>co-</a:t>
            </a:r>
            <a:r>
              <a:rPr lang="en-US" b="1" spc="-20" dirty="0">
                <a:latin typeface="Arial"/>
                <a:cs typeface="Arial"/>
              </a:rPr>
              <a:t>design,</a:t>
            </a:r>
            <a:r>
              <a:rPr lang="en-US" b="1" spc="6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enabling</a:t>
            </a:r>
            <a:r>
              <a:rPr lang="en-US" b="1" spc="7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efficient</a:t>
            </a:r>
            <a:r>
              <a:rPr lang="en-US" b="1" spc="6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urban</a:t>
            </a:r>
            <a:r>
              <a:rPr lang="en-US" b="1" spc="35" dirty="0">
                <a:latin typeface="Arial"/>
                <a:cs typeface="Arial"/>
              </a:rPr>
              <a:t> </a:t>
            </a:r>
            <a:r>
              <a:rPr lang="en-US" b="1" spc="-10" dirty="0">
                <a:latin typeface="Arial"/>
                <a:cs typeface="Arial"/>
              </a:rPr>
              <a:t>parking </a:t>
            </a:r>
            <a:r>
              <a:rPr lang="en-US" b="1" dirty="0">
                <a:latin typeface="Arial"/>
                <a:cs typeface="Arial"/>
              </a:rPr>
              <a:t>management</a:t>
            </a:r>
            <a:r>
              <a:rPr lang="en-US" b="1" spc="3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and</a:t>
            </a:r>
            <a:r>
              <a:rPr lang="en-US" b="1" spc="7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reducing</a:t>
            </a:r>
            <a:r>
              <a:rPr lang="en-US" b="1" spc="1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congestion</a:t>
            </a:r>
            <a:r>
              <a:rPr lang="en-US" b="1" spc="55" dirty="0">
                <a:latin typeface="Arial"/>
                <a:cs typeface="Arial"/>
              </a:rPr>
              <a:t> </a:t>
            </a:r>
            <a:r>
              <a:rPr lang="en-US" b="1" spc="-20" dirty="0">
                <a:latin typeface="Arial"/>
                <a:cs typeface="Arial"/>
              </a:rPr>
              <a:t>in</a:t>
            </a:r>
            <a:r>
              <a:rPr lang="en-US" b="1" spc="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smart</a:t>
            </a:r>
            <a:r>
              <a:rPr lang="en-US" b="1" spc="65" dirty="0">
                <a:latin typeface="Arial"/>
                <a:cs typeface="Arial"/>
              </a:rPr>
              <a:t> </a:t>
            </a:r>
            <a:r>
              <a:rPr lang="en-US" b="1" spc="-10" dirty="0">
                <a:latin typeface="Arial"/>
                <a:cs typeface="Arial"/>
              </a:rPr>
              <a:t>cities.</a:t>
            </a:r>
          </a:p>
          <a:p>
            <a:pPr marL="356870" indent="-344170">
              <a:lnSpc>
                <a:spcPct val="100000"/>
              </a:lnSpc>
              <a:spcBef>
                <a:spcPts val="875"/>
              </a:spcBef>
              <a:buChar char="•"/>
              <a:tabLst>
                <a:tab pos="356870" algn="l"/>
              </a:tabLst>
            </a:pPr>
            <a:endParaRPr spc="50" dirty="0"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147FB3BE-0E18-2A26-9A76-44B5EA726A5C}"/>
              </a:ext>
            </a:extLst>
          </p:cNvPr>
          <p:cNvGrpSpPr/>
          <p:nvPr/>
        </p:nvGrpSpPr>
        <p:grpSpPr>
          <a:xfrm>
            <a:off x="12818763" y="7698323"/>
            <a:ext cx="1729739" cy="463550"/>
            <a:chOff x="12818763" y="7698323"/>
            <a:chExt cx="1729739" cy="4635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F731091-4E26-E2F2-A9EC-B43BB7603B05}"/>
                </a:ext>
              </a:extLst>
            </p:cNvPr>
            <p:cNvSpPr/>
            <p:nvPr/>
          </p:nvSpPr>
          <p:spPr>
            <a:xfrm>
              <a:off x="12826999" y="7706560"/>
              <a:ext cx="1713230" cy="447040"/>
            </a:xfrm>
            <a:custGeom>
              <a:avLst/>
              <a:gdLst/>
              <a:ahLst/>
              <a:cxnLst/>
              <a:rect l="l" t="t" r="r" b="b"/>
              <a:pathLst>
                <a:path w="1713230" h="447040">
                  <a:moveTo>
                    <a:pt x="1713229" y="0"/>
                  </a:moveTo>
                  <a:lnTo>
                    <a:pt x="0" y="0"/>
                  </a:lnTo>
                  <a:lnTo>
                    <a:pt x="0" y="446839"/>
                  </a:lnTo>
                  <a:lnTo>
                    <a:pt x="1713229" y="446839"/>
                  </a:lnTo>
                  <a:lnTo>
                    <a:pt x="17132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F535DFC-6E1B-53E2-F781-15CD7DFDF181}"/>
                </a:ext>
              </a:extLst>
            </p:cNvPr>
            <p:cNvSpPr/>
            <p:nvPr/>
          </p:nvSpPr>
          <p:spPr>
            <a:xfrm>
              <a:off x="12826999" y="7706560"/>
              <a:ext cx="1713230" cy="447040"/>
            </a:xfrm>
            <a:custGeom>
              <a:avLst/>
              <a:gdLst/>
              <a:ahLst/>
              <a:cxnLst/>
              <a:rect l="l" t="t" r="r" b="b"/>
              <a:pathLst>
                <a:path w="1713230" h="447040">
                  <a:moveTo>
                    <a:pt x="0" y="446839"/>
                  </a:moveTo>
                  <a:lnTo>
                    <a:pt x="1713229" y="446839"/>
                  </a:lnTo>
                  <a:lnTo>
                    <a:pt x="1713229" y="0"/>
                  </a:lnTo>
                  <a:lnTo>
                    <a:pt x="0" y="0"/>
                  </a:lnTo>
                  <a:lnTo>
                    <a:pt x="0" y="446839"/>
                  </a:lnTo>
                  <a:close/>
                </a:path>
              </a:pathLst>
            </a:custGeom>
            <a:ln w="1647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00148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C1BCB-6FDD-6B4D-DA21-88CE0D208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72DB363-CB01-DD4D-BBA6-8660A3D3A5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59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2323534C-F10F-29D8-4648-FD993F7736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pc="459" dirty="0"/>
              <a:t>THANK YOU!</a:t>
            </a:r>
            <a:endParaRPr spc="459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B7E54D0-0675-ABE4-5D74-A900795EF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68973" y="2507851"/>
            <a:ext cx="7154544" cy="38151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75"/>
              </a:spcBef>
              <a:buChar char="•"/>
              <a:tabLst>
                <a:tab pos="356870" algn="l"/>
              </a:tabLst>
            </a:pPr>
            <a:endParaRPr spc="50" dirty="0"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9151E094-CE63-1FCF-F816-4196262752A5}"/>
              </a:ext>
            </a:extLst>
          </p:cNvPr>
          <p:cNvGrpSpPr/>
          <p:nvPr/>
        </p:nvGrpSpPr>
        <p:grpSpPr>
          <a:xfrm>
            <a:off x="12818763" y="7698323"/>
            <a:ext cx="1729739" cy="463550"/>
            <a:chOff x="12818763" y="7698323"/>
            <a:chExt cx="1729739" cy="4635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58715C1-ECC3-4A1C-BBC0-2FE00FD13191}"/>
                </a:ext>
              </a:extLst>
            </p:cNvPr>
            <p:cNvSpPr/>
            <p:nvPr/>
          </p:nvSpPr>
          <p:spPr>
            <a:xfrm>
              <a:off x="12826999" y="7706560"/>
              <a:ext cx="1713230" cy="447040"/>
            </a:xfrm>
            <a:custGeom>
              <a:avLst/>
              <a:gdLst/>
              <a:ahLst/>
              <a:cxnLst/>
              <a:rect l="l" t="t" r="r" b="b"/>
              <a:pathLst>
                <a:path w="1713230" h="447040">
                  <a:moveTo>
                    <a:pt x="1713229" y="0"/>
                  </a:moveTo>
                  <a:lnTo>
                    <a:pt x="0" y="0"/>
                  </a:lnTo>
                  <a:lnTo>
                    <a:pt x="0" y="446839"/>
                  </a:lnTo>
                  <a:lnTo>
                    <a:pt x="1713229" y="446839"/>
                  </a:lnTo>
                  <a:lnTo>
                    <a:pt x="17132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2D10572-A4DF-AC98-ADCE-3B168D29A13F}"/>
                </a:ext>
              </a:extLst>
            </p:cNvPr>
            <p:cNvSpPr/>
            <p:nvPr/>
          </p:nvSpPr>
          <p:spPr>
            <a:xfrm>
              <a:off x="12826999" y="7706560"/>
              <a:ext cx="1713230" cy="447040"/>
            </a:xfrm>
            <a:custGeom>
              <a:avLst/>
              <a:gdLst/>
              <a:ahLst/>
              <a:cxnLst/>
              <a:rect l="l" t="t" r="r" b="b"/>
              <a:pathLst>
                <a:path w="1713230" h="447040">
                  <a:moveTo>
                    <a:pt x="0" y="446839"/>
                  </a:moveTo>
                  <a:lnTo>
                    <a:pt x="1713229" y="446839"/>
                  </a:lnTo>
                  <a:lnTo>
                    <a:pt x="1713229" y="0"/>
                  </a:lnTo>
                  <a:lnTo>
                    <a:pt x="0" y="0"/>
                  </a:lnTo>
                  <a:lnTo>
                    <a:pt x="0" y="446839"/>
                  </a:lnTo>
                  <a:close/>
                </a:path>
              </a:pathLst>
            </a:custGeom>
            <a:ln w="1647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92211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</TotalTime>
  <Words>501</Words>
  <Application>Microsoft Office PowerPoint</Application>
  <PresentationFormat>Custom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MT</vt:lpstr>
      <vt:lpstr>Cambria</vt:lpstr>
      <vt:lpstr>Consolas</vt:lpstr>
      <vt:lpstr>Segoe UI Symbol</vt:lpstr>
      <vt:lpstr>Office Theme</vt:lpstr>
      <vt:lpstr>Intelligent Parking System</vt:lpstr>
      <vt:lpstr>The Challenge: Parking in Smart Cities</vt:lpstr>
      <vt:lpstr>System Overview</vt:lpstr>
      <vt:lpstr>System Workflow</vt:lpstr>
      <vt:lpstr>Technical Implementation</vt:lpstr>
      <vt:lpstr>Core Verilog Module</vt:lpstr>
      <vt:lpstr>Key Advantages &amp; Limitations</vt:lpstr>
      <vt:lpstr>System Performance &amp; Applications</vt:lpstr>
      <vt:lpstr>References &amp; Conclusion</vt:lpstr>
      <vt:lpstr> 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sneha n</cp:lastModifiedBy>
  <cp:revision>4</cp:revision>
  <dcterms:created xsi:type="dcterms:W3CDTF">2025-11-10T09:04:11Z</dcterms:created>
  <dcterms:modified xsi:type="dcterms:W3CDTF">2025-11-12T03:21:08Z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2025-11-10T00:00:00Z</vt:filetime>
  </property>
  <property fmtid="{D5CDD505-2E9C-101B-9397-08002B2CF9AE}" pid="5" name="Producer">
    <vt:lpwstr>3.0.30 (5.1.14) </vt:lpwstr>
  </property>
</Properties>
</file>